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502920" cy="82296"/>
          </a:xfrm>
          <a:prstGeom prst="rect">
            <a:avLst/>
          </a:prstGeom>
          <a:solidFill>
            <a:srgbClr val="0E6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E63B0"/>
                </a:solidFill>
                <a:latin typeface="Calibri"/>
              </a:rPr>
              <a:t>NEXT STEPS</a:t>
            </a:r>
          </a:p>
          <a:p>
            <a:pPr algn="l"/>
            <a:r>
              <a:rPr sz="2600" b="1">
                <a:solidFill>
                  <a:srgbClr val="1F2933"/>
                </a:solidFill>
                <a:latin typeface="Calibri"/>
              </a:rPr>
              <a:t>Experiment to find the right prompt — and prove each pack against its own codebase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5486400" cy="233172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5875">
            <a:solidFill>
              <a:srgbClr val="B45E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09728" bIns="109728" wrap="square"/>
          <a:lstStyle/>
          <a:p>
            <a:pPr algn="l"/>
            <a:r>
              <a:rPr sz="1500" b="1">
                <a:solidFill>
                  <a:srgbClr val="B45E12"/>
                </a:solidFill>
                <a:latin typeface="Calibri"/>
              </a:rPr>
              <a:t>Why this is the next step</a:t>
            </a:r>
          </a:p>
          <a:p>
            <a:pPr algn="l"/>
            <a:r>
              <a:rPr sz="1250" b="0">
                <a:solidFill>
                  <a:srgbClr val="1F2933"/>
                </a:solidFill>
                <a:latin typeface="Calibri"/>
              </a:rPr>
              <a:t>Our services differ — different domains, functions and structures. There is no single “correct” prompt, and a fixed evaluation checklist built for one service will not fairly judge another.</a:t>
            </a:r>
          </a:p>
          <a:p>
            <a:pPr algn="l"/>
            <a:r>
              <a:rPr sz="1250" b="0">
                <a:solidFill>
                  <a:srgbClr val="1F2933"/>
                </a:solidFill>
                <a:latin typeface="Calibri"/>
              </a:rPr>
              <a:t>So the goal is a repeatable METHOD, not a one-size template: try several prompts, then let each repository judge its own pack.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691640"/>
            <a:ext cx="5486400" cy="233172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5875">
            <a:solidFill>
              <a:srgbClr val="0E63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09728" bIns="109728" wrap="square"/>
          <a:lstStyle/>
          <a:p>
            <a:pPr algn="l"/>
            <a:r>
              <a:rPr sz="1500" b="1">
                <a:solidFill>
                  <a:srgbClr val="0E63B0"/>
                </a:solidFill>
                <a:latin typeface="Calibri"/>
              </a:rPr>
              <a:t>The experiment</a:t>
            </a:r>
          </a:p>
          <a:p>
            <a:pPr algn="l"/>
            <a:r>
              <a:rPr sz="1250" b="0">
                <a:solidFill>
                  <a:srgbClr val="1F2933"/>
                </a:solidFill>
                <a:latin typeface="Calibri"/>
              </a:rPr>
              <a:t>1  Run several prompt strategies with Claude Code to produce candidate packs for a repo</a:t>
            </a:r>
          </a:p>
          <a:p>
            <a:pPr algn="l"/>
            <a:r>
              <a:rPr sz="1250" b="0">
                <a:solidFill>
                  <a:srgbClr val="1F2933"/>
                </a:solidFill>
                <a:latin typeface="Calibri"/>
              </a:rPr>
              <a:t>2  Score each pack against that repo’s actual code (see below)</a:t>
            </a:r>
          </a:p>
          <a:p>
            <a:pPr algn="l"/>
            <a:r>
              <a:rPr sz="1250" b="0">
                <a:solidFill>
                  <a:srgbClr val="1F2933"/>
                </a:solidFill>
                <a:latin typeface="Calibri"/>
              </a:rPr>
              <a:t>3  Keep the winner for the repo, and converge on a default prompt that travels well</a:t>
            </a:r>
          </a:p>
          <a:p>
            <a:pPr algn="l"/>
            <a:r>
              <a:rPr sz="1250" b="0">
                <a:solidFill>
                  <a:srgbClr val="1F2933"/>
                </a:solidFill>
                <a:latin typeface="Calibri"/>
              </a:rPr>
              <a:t>4  Repeat on a second, different service to confirm the method — not just one result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206240"/>
            <a:ext cx="11201400" cy="1783080"/>
          </a:xfrm>
          <a:prstGeom prst="roundRect">
            <a:avLst>
              <a:gd name="adj" fmla="val 6000"/>
            </a:avLst>
          </a:prstGeom>
          <a:solidFill>
            <a:srgbClr val="E3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09728" bIns="109728" wrap="square"/>
          <a:lstStyle/>
          <a:p>
            <a:pPr algn="l"/>
            <a:r>
              <a:rPr sz="1500" b="1">
                <a:solidFill>
                  <a:srgbClr val="0A467E"/>
                </a:solidFill>
                <a:latin typeface="Calibri"/>
              </a:rPr>
              <a:t>A test that fits any codebase: derive the questions from the repo itself</a:t>
            </a:r>
          </a:p>
          <a:p>
            <a:pPr algn="l"/>
            <a:r>
              <a:rPr sz="1250" b="0">
                <a:solidFill>
                  <a:srgbClr val="1F2933"/>
                </a:solidFill>
                <a:latin typeface="Calibri"/>
              </a:rPr>
              <a:t>• Pick real functions / endpoints that exist in THAT repo and check the pack lets Duo/Copilot find and explain them</a:t>
            </a:r>
          </a:p>
          <a:p>
            <a:pPr algn="l"/>
            <a:r>
              <a:rPr sz="1250" b="0">
                <a:solidFill>
                  <a:srgbClr val="1F2933"/>
                </a:solidFill>
                <a:latin typeface="Calibri"/>
              </a:rPr>
              <a:t>• Ask the AI to plan a change to one of those existing functions using only the pack — does it name the right files and callers?</a:t>
            </a:r>
          </a:p>
          <a:p>
            <a:pPr algn="l"/>
            <a:r>
              <a:rPr sz="1250" b="0">
                <a:solidFill>
                  <a:srgbClr val="1F2933"/>
                </a:solidFill>
                <a:latin typeface="Calibri"/>
              </a:rPr>
              <a:t>• Score on: accuracy vs the real code · coverage of the repo’s real functions · size fits the chat context · the AI can act on it</a:t>
            </a:r>
          </a:p>
          <a:p>
            <a:pPr algn="l"/>
            <a:r>
              <a:rPr sz="1250" b="1">
                <a:solidFill>
                  <a:srgbClr val="0A467E"/>
                </a:solidFill>
                <a:latin typeface="Calibri"/>
              </a:rPr>
              <a:t>Because the questions come from each repository’s own functions, the same method works for services that do very different things.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A"/>
                </a:solidFill>
                <a:latin typeface="Calibri"/>
              </a:rPr>
              <a:t>Next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