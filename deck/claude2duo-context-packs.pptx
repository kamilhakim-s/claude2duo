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4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09728"/>
          </a:xfrm>
          <a:prstGeom prst="rect">
            <a:avLst/>
          </a:prstGeom>
          <a:solidFill>
            <a:srgbClr val="6AB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EC9EE"/>
                </a:solidFill>
                <a:latin typeface="Calibri"/>
              </a:rPr>
              <a:t>CONTEXT PACKS</a:t>
            </a:r>
          </a:p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Scaling AI-assisted development
beyond our Claude Code licenses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D5E5F4"/>
                </a:solidFill>
                <a:latin typeface="Calibri"/>
              </a:rPr>
              <a:t>Using Claude Code to make GitLab Duo and Microsoft Copilot dramatically more effective for the whole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9C4DC"/>
                </a:solidFill>
                <a:latin typeface="Calibri"/>
              </a:rPr>
              <a:t>Proposal to the team  ·  20–30 min  ·  &lt;presenter name&gt;  ·  &lt;date&gt;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502920" cy="82296"/>
          </a:xfrm>
          <a:prstGeom prst="rect">
            <a:avLst/>
          </a:prstGeom>
          <a:solidFill>
            <a:srgbClr val="0E6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E63B0"/>
                </a:solidFill>
                <a:latin typeface="Calibri"/>
              </a:rPr>
              <a:t>THE PROBLEM</a:t>
            </a:r>
          </a:p>
          <a:p>
            <a:pPr algn="l"/>
            <a:r>
              <a:rPr sz="3000" b="1">
                <a:solidFill>
                  <a:srgbClr val="1F2933"/>
                </a:solidFill>
                <a:latin typeface="Calibri"/>
              </a:rPr>
              <a:t>A two-tier AI developer experience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486400" cy="30175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600" b="1">
                <a:solidFill>
                  <a:srgbClr val="0E63B0"/>
                </a:solidFill>
                <a:latin typeface="Calibri"/>
              </a:rPr>
              <a:t>Tier 1 — a few developers</a:t>
            </a:r>
          </a:p>
          <a:p>
            <a:pPr algn="l"/>
            <a:r>
              <a:rPr sz="2000" b="1">
                <a:solidFill>
                  <a:srgbClr val="1F2933"/>
                </a:solidFill>
                <a:latin typeface="Calibri"/>
              </a:rPr>
              <a:t>Claude Code (agentic)</a:t>
            </a:r>
          </a:p>
          <a:p>
            <a:pPr algn="l"/>
            <a:r>
              <a:rPr sz="1400" b="0">
                <a:solidFill>
                  <a:srgbClr val="1F2933"/>
                </a:solidFill>
                <a:latin typeface="Calibri"/>
              </a:rPr>
              <a:t>• Reads the whole codebase systematically</a:t>
            </a:r>
          </a:p>
          <a:p>
            <a:pPr algn="l"/>
            <a:r>
              <a:rPr sz="1400" b="0">
                <a:solidFill>
                  <a:srgbClr val="1F2933"/>
                </a:solidFill>
                <a:latin typeface="Calibri"/>
              </a:rPr>
              <a:t>• Plans and executes multi-step changes</a:t>
            </a:r>
          </a:p>
          <a:p>
            <a:pPr algn="l"/>
            <a:r>
              <a:rPr sz="1400" b="0">
                <a:solidFill>
                  <a:srgbClr val="1F2933"/>
                </a:solidFill>
                <a:latin typeface="Calibri"/>
              </a:rPr>
              <a:t>• Limited seats: licence cap + security review means most of the team can't get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45920"/>
            <a:ext cx="5486400" cy="30175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600" b="1">
                <a:solidFill>
                  <a:srgbClr val="B45E12"/>
                </a:solidFill>
                <a:latin typeface="Calibri"/>
              </a:rPr>
              <a:t>Tier 2 — everyone else</a:t>
            </a:r>
          </a:p>
          <a:p>
            <a:pPr algn="l"/>
            <a:r>
              <a:rPr sz="2000" b="1">
                <a:solidFill>
                  <a:srgbClr val="1F2933"/>
                </a:solidFill>
                <a:latin typeface="Calibri"/>
              </a:rPr>
              <a:t>GitLab Duo &amp; Microsoft Copilot (chat)</a:t>
            </a:r>
          </a:p>
          <a:p>
            <a:pPr algn="l"/>
            <a:r>
              <a:rPr sz="1400" b="0">
                <a:solidFill>
                  <a:srgbClr val="1F2933"/>
                </a:solidFill>
                <a:latin typeface="Calibri"/>
              </a:rPr>
              <a:t>• Chat-mode only, with a hard context cap</a:t>
            </a:r>
          </a:p>
          <a:p>
            <a:pPr algn="l"/>
            <a:r>
              <a:rPr sz="1400" b="0">
                <a:solidFill>
                  <a:srgbClr val="1F2933"/>
                </a:solidFill>
                <a:latin typeface="Calibri"/>
              </a:rPr>
              <a:t>• Sees fragments of code, not the service as a system</a:t>
            </a:r>
          </a:p>
          <a:p>
            <a:pPr algn="l"/>
            <a:r>
              <a:rPr sz="1400" b="0">
                <a:solidFill>
                  <a:srgbClr val="1F2933"/>
                </a:solidFill>
                <a:latin typeface="Calibri"/>
              </a:rPr>
              <a:t>• Every fresh session starts from zero — the developer re-explains the service each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892040"/>
            <a:ext cx="11201400" cy="1371600"/>
          </a:xfrm>
          <a:prstGeom prst="roundRect">
            <a:avLst>
              <a:gd name="adj" fmla="val 6000"/>
            </a:avLst>
          </a:prstGeom>
          <a:solidFill>
            <a:srgbClr val="E3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/>
            <a:r>
              <a:rPr sz="1600" b="1">
                <a:solidFill>
                  <a:srgbClr val="0A467E"/>
                </a:solidFill>
                <a:latin typeface="Calibri"/>
              </a:rPr>
              <a:t>The gap: </a:t>
            </a:r>
            <a:r>
              <a:rPr sz="1600" b="0">
                <a:solidFill>
                  <a:srgbClr val="1F2933"/>
                </a:solidFill>
                <a:latin typeface="Calibri"/>
              </a:rPr>
              <a:t>our chat AIs are not weak models — they are strong models that are starved of context. They give generic answers to questions about very specific Spring Boot services, so most developers get a fraction of the value we are already paying for.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502920" cy="82296"/>
          </a:xfrm>
          <a:prstGeom prst="rect">
            <a:avLst/>
          </a:prstGeom>
          <a:solidFill>
            <a:srgbClr val="0E6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E63B0"/>
                </a:solidFill>
                <a:latin typeface="Calibri"/>
              </a:rPr>
              <a:t>CURRENT TOOLING LANDSCAPE</a:t>
            </a:r>
          </a:p>
          <a:p>
            <a:pPr algn="l"/>
            <a:r>
              <a:rPr sz="3000" b="1">
                <a:solidFill>
                  <a:srgbClr val="1F2933"/>
                </a:solidFill>
                <a:latin typeface="Calibri"/>
              </a:rPr>
              <a:t>What each tool can and cannot do today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91640"/>
          <a:ext cx="11201398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739"/>
                <a:gridCol w="2846257"/>
                <a:gridCol w="3029886"/>
                <a:gridCol w="3213516"/>
              </a:tblGrid>
              <a:tr h="509451">
                <a:tc>
                  <a:txBody>
                    <a:bodyPr/>
                    <a:lstStyle/>
                    <a:p/>
                  </a:txBody>
                  <a:tcPr marL="73152" marR="73152" marT="36576" marB="36576">
                    <a:solidFill>
                      <a:srgbClr val="0E63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Claude Code</a:t>
                      </a:r>
                    </a:p>
                  </a:txBody>
                  <a:tcPr marL="73152" marR="73152" marT="36576" marB="36576">
                    <a:solidFill>
                      <a:srgbClr val="0E63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GitLab Duo Chat</a:t>
                      </a:r>
                    </a:p>
                  </a:txBody>
                  <a:tcPr marL="73152" marR="73152" marT="36576" marB="36576">
                    <a:solidFill>
                      <a:srgbClr val="0E63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Microsoft Copilot Chat</a:t>
                      </a:r>
                    </a:p>
                  </a:txBody>
                  <a:tcPr marL="73152" marR="73152" marT="36576" marB="36576">
                    <a:solidFill>
                      <a:srgbClr val="0E63B0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F2933"/>
                          </a:solidFill>
                          <a:latin typeface="Calibri"/>
                        </a:rPr>
                        <a:t>Availability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Few licensed developers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Whole team (IntelliJ / VS Code)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Whole team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F2933"/>
                          </a:solidFill>
                          <a:latin typeface="Calibri"/>
                        </a:rPr>
                        <a:t>Mode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Agentic — plans, reads, edits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Chat, IDE-integrated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Chat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F2933"/>
                          </a:solidFill>
                          <a:latin typeface="Calibri"/>
                        </a:rPr>
                        <a:t>Code access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Entire repository, systematic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Open files / snippets in IDE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Attached files, incl. images &amp; many formats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F2933"/>
                          </a:solidFill>
                          <a:latin typeface="Calibri"/>
                        </a:rPr>
                        <a:t>Context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Very large, managed automatically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Capped per session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Capped per session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F2933"/>
                          </a:solidFill>
                          <a:latin typeface="Calibri"/>
                        </a:rPr>
                        <a:t>Systematic multi-step work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No — needs hand-fed context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No — needs hand-fed context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09454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F2933"/>
                          </a:solidFill>
                          <a:latin typeface="Calibri"/>
                        </a:rPr>
                        <a:t>Today's blocker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Licence cap &amp; security scope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Doesn't know the service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Doesn't know the service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5532120"/>
            <a:ext cx="11201400" cy="868680"/>
          </a:xfrm>
          <a:prstGeom prst="roundRect">
            <a:avLst>
              <a:gd name="adj" fmla="val 6000"/>
            </a:avLst>
          </a:prstGeom>
          <a:solidFill>
            <a:srgbClr val="E3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/>
            <a:r>
              <a:rPr sz="1500" b="1">
                <a:solidFill>
                  <a:srgbClr val="0A467E"/>
                </a:solidFill>
                <a:latin typeface="Calibri"/>
              </a:rPr>
              <a:t>Observation: </a:t>
            </a:r>
            <a:r>
              <a:rPr sz="1500" b="0">
                <a:solidFill>
                  <a:srgbClr val="1F2933"/>
                </a:solidFill>
                <a:latin typeface="Calibri"/>
              </a:rPr>
              <a:t>Duo and Copilot both accept attached files. If the right context arrived pre-packaged, the “doesn't know the service” blocker disappears.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502920" cy="82296"/>
          </a:xfrm>
          <a:prstGeom prst="rect">
            <a:avLst/>
          </a:prstGeom>
          <a:solidFill>
            <a:srgbClr val="0E6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E63B0"/>
                </a:solidFill>
                <a:latin typeface="Calibri"/>
              </a:rPr>
              <a:t>PROPOSAL</a:t>
            </a:r>
          </a:p>
          <a:p>
            <a:pPr algn="l"/>
            <a:r>
              <a:rPr sz="3000" b="1">
                <a:solidFill>
                  <a:srgbClr val="1F2933"/>
                </a:solidFill>
                <a:latin typeface="Calibri"/>
              </a:rPr>
              <a:t>The idea in one picture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2020824" cy="22860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0E6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500" b="1">
                <a:solidFill>
                  <a:srgbClr val="0E63B0"/>
                </a:solidFill>
                <a:latin typeface="Calibri"/>
              </a:rPr>
              <a:t>1 · Generate</a:t>
            </a:r>
          </a:p>
          <a:p>
            <a:pPr algn="l"/>
            <a:r>
              <a:rPr sz="1200" b="0">
                <a:solidFill>
                  <a:srgbClr val="1F2933"/>
                </a:solidFill>
                <a:latin typeface="Calibri"/>
              </a:rPr>
              <a:t>Licensed devs run Claude Code with a standard prompt over each microservice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51176" y="2834640"/>
            <a:ext cx="329184" cy="256032"/>
          </a:xfrm>
          <a:prstGeom prst="rightArrow">
            <a:avLst/>
          </a:prstGeom>
          <a:solidFill>
            <a:srgbClr val="0E6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62072" y="1828800"/>
            <a:ext cx="2020824" cy="22860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0E6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500" b="1">
                <a:solidFill>
                  <a:srgbClr val="0E63B0"/>
                </a:solidFill>
                <a:latin typeface="Calibri"/>
              </a:rPr>
              <a:t>2 · Commit</a:t>
            </a:r>
          </a:p>
          <a:p>
            <a:pPr algn="l"/>
            <a:r>
              <a:rPr sz="1200" b="0">
                <a:solidFill>
                  <a:srgbClr val="1F2933"/>
                </a:solidFill>
                <a:latin typeface="Calibri"/>
              </a:rPr>
              <a:t>Context pack (a small set of .md files) is committed to the service repo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64608" y="2834640"/>
            <a:ext cx="329184" cy="256032"/>
          </a:xfrm>
          <a:prstGeom prst="rightArrow">
            <a:avLst/>
          </a:prstGeom>
          <a:solidFill>
            <a:srgbClr val="0E6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75504" y="1828800"/>
            <a:ext cx="2020824" cy="22860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0E6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500" b="1">
                <a:solidFill>
                  <a:srgbClr val="0E63B0"/>
                </a:solidFill>
                <a:latin typeface="Calibri"/>
              </a:rPr>
              <a:t>3 · Attach</a:t>
            </a:r>
          </a:p>
          <a:p>
            <a:pPr algn="l"/>
            <a:r>
              <a:rPr sz="1200" b="0">
                <a:solidFill>
                  <a:srgbClr val="1F2933"/>
                </a:solidFill>
                <a:latin typeface="Calibri"/>
              </a:rPr>
              <a:t>Any developer attaches the pack to a fresh Duo or Copilot session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178040" y="2834640"/>
            <a:ext cx="329184" cy="256032"/>
          </a:xfrm>
          <a:prstGeom prst="rightArrow">
            <a:avLst/>
          </a:prstGeom>
          <a:solidFill>
            <a:srgbClr val="0E6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88936" y="1828800"/>
            <a:ext cx="2020824" cy="22860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0E6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500" b="1">
                <a:solidFill>
                  <a:srgbClr val="0E63B0"/>
                </a:solidFill>
                <a:latin typeface="Calibri"/>
              </a:rPr>
              <a:t>4 · Plan</a:t>
            </a:r>
          </a:p>
          <a:p>
            <a:pPr algn="l"/>
            <a:r>
              <a:rPr sz="1200" b="0">
                <a:solidFill>
                  <a:srgbClr val="1F2933"/>
                </a:solidFill>
                <a:latin typeface="Calibri"/>
              </a:rPr>
              <a:t>The chat AI fills in our standard plan template for the feature / change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491472" y="2834640"/>
            <a:ext cx="329184" cy="256032"/>
          </a:xfrm>
          <a:prstGeom prst="rightArrow">
            <a:avLst/>
          </a:prstGeom>
          <a:solidFill>
            <a:srgbClr val="0E6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802368" y="1828800"/>
            <a:ext cx="2020824" cy="22860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500" b="1">
                <a:solidFill>
                  <a:srgbClr val="1E7A45"/>
                </a:solidFill>
                <a:latin typeface="Calibri"/>
              </a:rPr>
              <a:t>5 · Apply</a:t>
            </a:r>
          </a:p>
          <a:p>
            <a:pPr algn="l"/>
            <a:r>
              <a:rPr sz="1200" b="0">
                <a:solidFill>
                  <a:srgbClr val="1F2933"/>
                </a:solidFill>
                <a:latin typeface="Calibri"/>
              </a:rPr>
              <a:t>Developer reviews and applies the changes manually, as normal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80560"/>
            <a:ext cx="11201400" cy="1737360"/>
          </a:xfrm>
          <a:prstGeom prst="roundRect">
            <a:avLst>
              <a:gd name="adj" fmla="val 6000"/>
            </a:avLst>
          </a:prstGeom>
          <a:solidFill>
            <a:srgbClr val="E3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600" b="1">
                <a:solidFill>
                  <a:srgbClr val="0A467E"/>
                </a:solidFill>
                <a:latin typeface="Calibri"/>
              </a:rPr>
              <a:t>Why this works</a:t>
            </a:r>
          </a:p>
          <a:p>
            <a:pPr algn="l"/>
            <a:r>
              <a:rPr sz="1400" b="0">
                <a:solidFill>
                  <a:srgbClr val="1F2933"/>
                </a:solidFill>
                <a:latin typeface="Calibri"/>
              </a:rPr>
              <a:t>Claude Code does the expensive, systematic part once per service — understanding the whole codebase. The result is distilled into files small enough for Duo / Copilot context windows. Every developer then starts each chat session with the AI already “knowing” the service, and code changes stay fully under developer control.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502920" cy="82296"/>
          </a:xfrm>
          <a:prstGeom prst="rect">
            <a:avLst/>
          </a:prstGeom>
          <a:solidFill>
            <a:srgbClr val="0E6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E63B0"/>
                </a:solidFill>
                <a:latin typeface="Calibri"/>
              </a:rPr>
              <a:t>PROPOSAL</a:t>
            </a:r>
          </a:p>
          <a:p>
            <a:pPr algn="l"/>
            <a:r>
              <a:rPr sz="3000" b="1">
                <a:solidFill>
                  <a:srgbClr val="1F2933"/>
                </a:solidFill>
                <a:latin typeface="Calibri"/>
              </a:rPr>
              <a:t>What's in a context pack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7A"/>
                </a:solidFill>
                <a:latin typeface="Calibri"/>
              </a:rPr>
              <a:t>One folder of Markdown files per microservice — each file sized to fit chat attachment and context limits.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611880" cy="11430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300" b="1">
                <a:solidFill>
                  <a:srgbClr val="0A467E"/>
                </a:solidFill>
                <a:latin typeface="Calibri"/>
              </a:rPr>
              <a:t>SERVICE-OVERVIEW.md</a:t>
            </a:r>
          </a:p>
          <a:p>
            <a:pPr algn="l"/>
            <a:r>
              <a:rPr sz="1150" b="0">
                <a:solidFill>
                  <a:srgbClr val="1F2933"/>
                </a:solidFill>
                <a:latin typeface="Calibri"/>
              </a:rPr>
              <a:t>Purpose, responsibilities, owners, key business flows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2057400"/>
            <a:ext cx="3611880" cy="11430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300" b="1">
                <a:solidFill>
                  <a:srgbClr val="0A467E"/>
                </a:solidFill>
                <a:latin typeface="Calibri"/>
              </a:rPr>
              <a:t>ARCHITECTURE.md</a:t>
            </a:r>
          </a:p>
          <a:p>
            <a:pPr algn="l"/>
            <a:r>
              <a:rPr sz="1150" b="0">
                <a:solidFill>
                  <a:srgbClr val="1F2933"/>
                </a:solidFill>
                <a:latin typeface="Calibri"/>
              </a:rPr>
              <a:t>Module layout, dependency map, upstream / downstream services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2057400"/>
            <a:ext cx="3611880" cy="11430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300" b="1">
                <a:solidFill>
                  <a:srgbClr val="0A467E"/>
                </a:solidFill>
                <a:latin typeface="Calibri"/>
              </a:rPr>
              <a:t>API-CONTRACTS.md</a:t>
            </a:r>
          </a:p>
          <a:p>
            <a:pPr algn="l"/>
            <a:r>
              <a:rPr sz="1150" b="0">
                <a:solidFill>
                  <a:srgbClr val="1F2933"/>
                </a:solidFill>
                <a:latin typeface="Calibri"/>
              </a:rPr>
              <a:t>REST endpoints, request/response shapes, error conventions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383280"/>
            <a:ext cx="3611880" cy="11430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300" b="1">
                <a:solidFill>
                  <a:srgbClr val="0A467E"/>
                </a:solidFill>
                <a:latin typeface="Calibri"/>
              </a:rPr>
              <a:t>DATA-MODEL.md</a:t>
            </a:r>
          </a:p>
          <a:p>
            <a:pPr algn="l"/>
            <a:r>
              <a:rPr sz="1150" b="0">
                <a:solidFill>
                  <a:srgbClr val="1F2933"/>
                </a:solidFill>
                <a:latin typeface="Calibri"/>
              </a:rPr>
              <a:t>Entities, relationships, key tables and migrations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3383280"/>
            <a:ext cx="3611880" cy="11430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300" b="1">
                <a:solidFill>
                  <a:srgbClr val="0A467E"/>
                </a:solidFill>
                <a:latin typeface="Calibri"/>
              </a:rPr>
              <a:t>CONVENTIONS.md</a:t>
            </a:r>
          </a:p>
          <a:p>
            <a:pPr algn="l"/>
            <a:r>
              <a:rPr sz="1150" b="0">
                <a:solidFill>
                  <a:srgbClr val="1F2933"/>
                </a:solidFill>
                <a:latin typeface="Calibri"/>
              </a:rPr>
              <a:t>Code patterns, naming, error handling, how we write services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3383280"/>
            <a:ext cx="3611880" cy="11430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300" b="1">
                <a:solidFill>
                  <a:srgbClr val="0A467E"/>
                </a:solidFill>
                <a:latin typeface="Calibri"/>
              </a:rPr>
              <a:t>CONFIG-PROFILES.md</a:t>
            </a:r>
          </a:p>
          <a:p>
            <a:pPr algn="l"/>
            <a:r>
              <a:rPr sz="1150" b="0">
                <a:solidFill>
                  <a:srgbClr val="1F2933"/>
                </a:solidFill>
                <a:latin typeface="Calibri"/>
              </a:rPr>
              <a:t>Spring Boot config, profiles, feature flags, secrets handling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709160"/>
            <a:ext cx="3611880" cy="11430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300" b="1">
                <a:solidFill>
                  <a:srgbClr val="0A467E"/>
                </a:solidFill>
                <a:latin typeface="Calibri"/>
              </a:rPr>
              <a:t>DEPLOYMENT.md</a:t>
            </a:r>
          </a:p>
          <a:p>
            <a:pPr algn="l"/>
            <a:r>
              <a:rPr sz="1150" b="0">
                <a:solidFill>
                  <a:srgbClr val="1F2933"/>
                </a:solidFill>
                <a:latin typeface="Calibri"/>
              </a:rPr>
              <a:t>OpenShift topology, routes, resources, pipelines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4709160"/>
            <a:ext cx="3611880" cy="11430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300" b="1">
                <a:solidFill>
                  <a:srgbClr val="0A467E"/>
                </a:solidFill>
                <a:latin typeface="Calibri"/>
              </a:rPr>
              <a:t>TESTING.md</a:t>
            </a:r>
          </a:p>
          <a:p>
            <a:pPr algn="l"/>
            <a:r>
              <a:rPr sz="1150" b="0">
                <a:solidFill>
                  <a:srgbClr val="1F2933"/>
                </a:solidFill>
                <a:latin typeface="Calibri"/>
              </a:rPr>
              <a:t>Test layers, fixtures, how to add and run tests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4709160"/>
            <a:ext cx="3611880" cy="11430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300" b="1">
                <a:solidFill>
                  <a:srgbClr val="0A467E"/>
                </a:solidFill>
                <a:latin typeface="Calibri"/>
              </a:rPr>
              <a:t>GOTCHAS.md</a:t>
            </a:r>
          </a:p>
          <a:p>
            <a:pPr algn="l"/>
            <a:r>
              <a:rPr sz="1150" b="0">
                <a:solidFill>
                  <a:srgbClr val="1F2933"/>
                </a:solidFill>
                <a:latin typeface="Calibri"/>
              </a:rPr>
              <a:t>Known pitfalls, tech debt, sharp edges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6035040"/>
            <a:ext cx="11201400" cy="594360"/>
          </a:xfrm>
          <a:prstGeom prst="roundRect">
            <a:avLst>
              <a:gd name="adj" fmla="val 6000"/>
            </a:avLst>
          </a:prstGeom>
          <a:solidFill>
            <a:srgbClr val="E3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/>
            <a:r>
              <a:rPr sz="1400" b="1">
                <a:solidFill>
                  <a:srgbClr val="0A467E"/>
                </a:solidFill>
                <a:latin typeface="Calibri"/>
              </a:rPr>
              <a:t>Side effect: this is living, always-regenerable documentation — valuable even without any AI.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502920" cy="82296"/>
          </a:xfrm>
          <a:prstGeom prst="rect">
            <a:avLst/>
          </a:prstGeom>
          <a:solidFill>
            <a:srgbClr val="0E6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E63B0"/>
                </a:solidFill>
                <a:latin typeface="Calibri"/>
              </a:rPr>
              <a:t>PROPOSAL</a:t>
            </a:r>
          </a:p>
          <a:p>
            <a:pPr algn="l"/>
            <a:r>
              <a:rPr sz="3000" b="1">
                <a:solidFill>
                  <a:srgbClr val="1F2933"/>
                </a:solidFill>
                <a:latin typeface="Calibri"/>
              </a:rPr>
              <a:t>The standardised plan template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7A"/>
                </a:solidFill>
                <a:latin typeface="Calibri"/>
              </a:rPr>
              <a:t>A fixed structure the chat AI must fill in for any feature or change — so output is predictable, reviewable and easy to apply by hand.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48840"/>
            <a:ext cx="5486400" cy="9601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400" b="1">
                <a:solidFill>
                  <a:srgbClr val="0A467E"/>
                </a:solidFill>
                <a:latin typeface="Calibri"/>
              </a:rPr>
              <a:t>1 · Goal &amp; scope</a:t>
            </a:r>
          </a:p>
          <a:p>
            <a:pPr algn="l"/>
            <a:r>
              <a:rPr sz="1200" b="0">
                <a:solidFill>
                  <a:srgbClr val="1F2933"/>
                </a:solidFill>
                <a:latin typeface="Calibri"/>
              </a:rPr>
              <a:t>What we're changing and explicitly what we're not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2148840"/>
            <a:ext cx="5486400" cy="9601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400" b="1">
                <a:solidFill>
                  <a:srgbClr val="0A467E"/>
                </a:solidFill>
                <a:latin typeface="Calibri"/>
              </a:rPr>
              <a:t>2 · Affected files</a:t>
            </a:r>
          </a:p>
          <a:p>
            <a:pPr algn="l"/>
            <a:r>
              <a:rPr sz="1200" b="0">
                <a:solidFill>
                  <a:srgbClr val="1F2933"/>
                </a:solidFill>
                <a:latin typeface="Calibri"/>
              </a:rPr>
              <a:t>Exact files to touch, and why each 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91840"/>
            <a:ext cx="5486400" cy="9601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400" b="1">
                <a:solidFill>
                  <a:srgbClr val="0A467E"/>
                </a:solidFill>
                <a:latin typeface="Calibri"/>
              </a:rPr>
              <a:t>3 · Step-by-step changes</a:t>
            </a:r>
          </a:p>
          <a:p>
            <a:pPr algn="l"/>
            <a:r>
              <a:rPr sz="1200" b="0">
                <a:solidFill>
                  <a:srgbClr val="1F2933"/>
                </a:solidFill>
                <a:latin typeface="Calibri"/>
              </a:rPr>
              <a:t>Ordered steps with code snippets per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3291840"/>
            <a:ext cx="5486400" cy="9601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400" b="1">
                <a:solidFill>
                  <a:srgbClr val="0A467E"/>
                </a:solidFill>
                <a:latin typeface="Calibri"/>
              </a:rPr>
              <a:t>4 · Test plan</a:t>
            </a:r>
          </a:p>
          <a:p>
            <a:pPr algn="l"/>
            <a:r>
              <a:rPr sz="1200" b="0">
                <a:solidFill>
                  <a:srgbClr val="1F2933"/>
                </a:solidFill>
                <a:latin typeface="Calibri"/>
              </a:rPr>
              <a:t>Unit / integration tests to add or update, how to run them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434840"/>
            <a:ext cx="5486400" cy="9601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400" b="1">
                <a:solidFill>
                  <a:srgbClr val="0A467E"/>
                </a:solidFill>
                <a:latin typeface="Calibri"/>
              </a:rPr>
              <a:t>5 · Config &amp; deployment</a:t>
            </a:r>
          </a:p>
          <a:p>
            <a:pPr algn="l"/>
            <a:r>
              <a:rPr sz="1200" b="0">
                <a:solidFill>
                  <a:srgbClr val="1F2933"/>
                </a:solidFill>
                <a:latin typeface="Calibri"/>
              </a:rPr>
              <a:t>Spring profiles, OpenShift manifests, flags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4434840"/>
            <a:ext cx="5486400" cy="9601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400" b="1">
                <a:solidFill>
                  <a:srgbClr val="0A467E"/>
                </a:solidFill>
                <a:latin typeface="Calibri"/>
              </a:rPr>
              <a:t>6 · Rollback &amp; risks</a:t>
            </a:r>
          </a:p>
          <a:p>
            <a:pPr algn="l"/>
            <a:r>
              <a:rPr sz="1200" b="0">
                <a:solidFill>
                  <a:srgbClr val="1F2933"/>
                </a:solidFill>
                <a:latin typeface="Calibri"/>
              </a:rPr>
              <a:t>How to revert, what could break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715000"/>
            <a:ext cx="11201400" cy="914400"/>
          </a:xfrm>
          <a:prstGeom prst="roundRect">
            <a:avLst>
              <a:gd name="adj" fmla="val 6000"/>
            </a:avLst>
          </a:prstGeom>
          <a:solidFill>
            <a:srgbClr val="E3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/>
            <a:r>
              <a:rPr sz="1400" b="0">
                <a:solidFill>
                  <a:srgbClr val="1F2933"/>
                </a:solidFill>
                <a:latin typeface="Calibri"/>
              </a:rPr>
              <a:t>The developer copies the filled-in plan out of Duo / Copilot and applies it manually — human review is built into every step. No AI writes to our repos except through a developer.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502920" cy="82296"/>
          </a:xfrm>
          <a:prstGeom prst="rect">
            <a:avLst/>
          </a:prstGeom>
          <a:solidFill>
            <a:srgbClr val="0E6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E63B0"/>
                </a:solidFill>
                <a:latin typeface="Calibri"/>
              </a:rPr>
              <a:t>DEVELOPER WORKFLOW</a:t>
            </a:r>
          </a:p>
          <a:p>
            <a:pPr algn="l"/>
            <a:r>
              <a:rPr sz="3000" b="1">
                <a:solidFill>
                  <a:srgbClr val="1F2933"/>
                </a:solidFill>
                <a:latin typeface="Calibri"/>
              </a:rPr>
              <a:t>A developer's day, before and after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486400" cy="23774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B45E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500" b="1">
                <a:solidFill>
                  <a:srgbClr val="B45E12"/>
                </a:solidFill>
                <a:latin typeface="Calibri"/>
              </a:rPr>
              <a:t>Before — Duo with no context</a:t>
            </a:r>
          </a:p>
          <a:p>
            <a:pPr algn="l"/>
            <a:r>
              <a:rPr sz="1250" b="0">
                <a:solidFill>
                  <a:srgbClr val="1F2933"/>
                </a:solidFill>
                <a:latin typeface="Calibri"/>
              </a:rPr>
              <a:t>• “Add an endpoint to service X” → generic Spring Boot boilerplate</a:t>
            </a:r>
          </a:p>
          <a:p>
            <a:pPr algn="l"/>
            <a:r>
              <a:rPr sz="1250" b="0">
                <a:solidFill>
                  <a:srgbClr val="1F2933"/>
                </a:solidFill>
                <a:latin typeface="Calibri"/>
              </a:rPr>
              <a:t>• Dev pastes snippets file-by-file to explain the service</a:t>
            </a:r>
          </a:p>
          <a:p>
            <a:pPr algn="l"/>
            <a:r>
              <a:rPr sz="1250" b="0">
                <a:solidFill>
                  <a:srgbClr val="1F2933"/>
                </a:solidFill>
                <a:latin typeface="Calibri"/>
              </a:rPr>
              <a:t>• Hits the context cap, answers drift, session restarted</a:t>
            </a:r>
          </a:p>
          <a:p>
            <a:pPr algn="l"/>
            <a:r>
              <a:rPr sz="1250" b="0">
                <a:solidFill>
                  <a:srgbClr val="1F2933"/>
                </a:solidFill>
                <a:latin typeface="Calibri"/>
              </a:rPr>
              <a:t>• Result often ignores our conventions and config patterns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486400" cy="23774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500" b="1">
                <a:solidFill>
                  <a:srgbClr val="1E7A45"/>
                </a:solidFill>
                <a:latin typeface="Calibri"/>
              </a:rPr>
              <a:t>After — Duo with a context pack</a:t>
            </a:r>
          </a:p>
          <a:p>
            <a:pPr algn="l"/>
            <a:r>
              <a:rPr sz="1250" b="0">
                <a:solidFill>
                  <a:srgbClr val="1F2933"/>
                </a:solidFill>
                <a:latin typeface="Calibri"/>
              </a:rPr>
              <a:t>• Dev attaches the pack + plan template to a fresh session</a:t>
            </a:r>
          </a:p>
          <a:p>
            <a:pPr algn="l"/>
            <a:r>
              <a:rPr sz="1250" b="0">
                <a:solidFill>
                  <a:srgbClr val="1F2933"/>
                </a:solidFill>
                <a:latin typeface="Calibri"/>
              </a:rPr>
              <a:t>• AI answers in terms of our actual endpoints, entities, conventions</a:t>
            </a:r>
          </a:p>
          <a:p>
            <a:pPr algn="l"/>
            <a:r>
              <a:rPr sz="1250" b="0">
                <a:solidFill>
                  <a:srgbClr val="1F2933"/>
                </a:solidFill>
                <a:latin typeface="Calibri"/>
              </a:rPr>
              <a:t>• Produces a filled-in plan with concrete files and snippets</a:t>
            </a:r>
          </a:p>
          <a:p>
            <a:pPr algn="l"/>
            <a:r>
              <a:rPr sz="1250" b="0">
                <a:solidFill>
                  <a:srgbClr val="1F2933"/>
                </a:solidFill>
                <a:latin typeface="Calibri"/>
              </a:rPr>
              <a:t>• Dev reviews, applies manually, raises MR as usual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160520"/>
            <a:ext cx="11201400" cy="2148840"/>
          </a:xfrm>
          <a:prstGeom prst="roundRect">
            <a:avLst>
              <a:gd name="adj" fmla="val 5000"/>
            </a:avLst>
          </a:prstGeom>
          <a:solidFill>
            <a:srgbClr val="FDF3E3"/>
          </a:solidFill>
          <a:ln w="19050">
            <a:solidFill>
              <a:srgbClr val="D9A440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/>
            <a:r>
              <a:rPr sz="1200" b="1">
                <a:solidFill>
                  <a:srgbClr val="B45E12"/>
                </a:solidFill>
                <a:latin typeface="Calibri"/>
              </a:rPr>
              <a:t>[ DEMO ASSET — TO BE CAPTURED ]</a:t>
            </a:r>
          </a:p>
          <a:p>
            <a:pPr algn="ctr"/>
            <a:r>
              <a:rPr sz="1600" b="1">
                <a:solidFill>
                  <a:srgbClr val="1F2933"/>
                </a:solidFill>
                <a:latin typeface="Calibri"/>
              </a:rPr>
              <a:t>Before / after session comparison</a:t>
            </a:r>
          </a:p>
          <a:p>
            <a:pPr algn="ctr"/>
            <a:r>
              <a:rPr sz="1200" b="0">
                <a:solidFill>
                  <a:srgbClr val="5A6B7A"/>
                </a:solidFill>
                <a:latin typeface="Calibri"/>
              </a:rPr>
              <a:t>Side-by-side screenshots of the same task in GitLab Duo: one fresh session with no context, one with the context pack attached — same prompt, visibly different quality of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502920" cy="82296"/>
          </a:xfrm>
          <a:prstGeom prst="rect">
            <a:avLst/>
          </a:prstGeom>
          <a:solidFill>
            <a:srgbClr val="0E6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E63B0"/>
                </a:solidFill>
                <a:latin typeface="Calibri"/>
              </a:rPr>
              <a:t>SAMPLE CONTEXT PACK</a:t>
            </a:r>
          </a:p>
          <a:p>
            <a:pPr algn="l"/>
            <a:r>
              <a:rPr sz="3000" b="1">
                <a:solidFill>
                  <a:srgbClr val="1F2933"/>
                </a:solidFill>
                <a:latin typeface="Calibri"/>
              </a:rPr>
              <a:t>What a real pack looks like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6766560" cy="4663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E6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100" b="1">
                <a:solidFill>
                  <a:srgbClr val="1E7A45"/>
                </a:solidFill>
                <a:latin typeface="Calibri"/>
              </a:rPr>
              <a:t>REAL OUTPUT — generated by Claude Code from the sample transfer-service</a:t>
            </a:r>
          </a:p>
          <a:p>
            <a:pPr algn="l"/>
            <a:r>
              <a:rPr sz="1300" b="1">
                <a:solidFill>
                  <a:srgbClr val="0A467E"/>
                </a:solidFill>
                <a:latin typeface="Calibri"/>
              </a:rPr>
              <a:t>RECIPES.md · R3 — Add a field to an existing entity</a:t>
            </a:r>
          </a:p>
          <a:p>
            <a:pPr algn="l"/>
            <a:r>
              <a:rPr sz="1100" b="0">
                <a:solidFill>
                  <a:srgbClr val="1F2933"/>
                </a:solidFill>
                <a:latin typeface="Calibri"/>
              </a:rPr>
              <a:t>WHEN: e.g. add `description` to Transfer.</a:t>
            </a:r>
          </a:p>
          <a:p>
            <a:pPr algn="l"/>
            <a:r>
              <a:rPr sz="1100" b="0">
                <a:solidFill>
                  <a:srgbClr val="1F2933"/>
                </a:solidFill>
                <a:latin typeface="Calibri"/>
              </a:rPr>
              <a:t>1  model.Transfer — private field + @Column traits + constructor param</a:t>
            </a:r>
          </a:p>
          <a:p>
            <a:pPr algn="l"/>
            <a:r>
              <a:rPr sz="1100" b="0">
                <a:solidFill>
                  <a:srgbClr val="1F2933"/>
                </a:solidFill>
                <a:latin typeface="Calibri"/>
              </a:rPr>
              <a:t>    + getter (entity is immutable — no setter)</a:t>
            </a:r>
          </a:p>
          <a:p>
            <a:pPr algn="l"/>
            <a:r>
              <a:rPr sz="1100" b="0">
                <a:solidFill>
                  <a:srgbClr val="1F2933"/>
                </a:solidFill>
                <a:latin typeface="Calibri"/>
              </a:rPr>
              <a:t>2  (no migration file: schema is ddl-auto create-drop from entities)</a:t>
            </a:r>
          </a:p>
          <a:p>
            <a:pPr algn="l"/>
            <a:r>
              <a:rPr sz="1100" b="0">
                <a:solidFill>
                  <a:srgbClr val="1F2933"/>
                </a:solidFill>
                <a:latin typeface="Calibri"/>
              </a:rPr>
              <a:t>3  dto.TransferRequest — add record component with validation</a:t>
            </a:r>
          </a:p>
          <a:p>
            <a:pPr algn="l"/>
            <a:r>
              <a:rPr sz="1100" b="0">
                <a:solidFill>
                  <a:srgbClr val="1F2933"/>
                </a:solidFill>
                <a:latin typeface="Calibri"/>
              </a:rPr>
              <a:t>    annotations (e.g. @Size(max=140); optional =&gt; no @NotBlank)</a:t>
            </a:r>
          </a:p>
          <a:p>
            <a:pPr algn="l"/>
            <a:r>
              <a:rPr sz="1100" b="0">
                <a:solidFill>
                  <a:srgbClr val="1F2933"/>
                </a:solidFill>
                <a:latin typeface="Calibri"/>
              </a:rPr>
              <a:t>4  service.TransferService — pass the value through in BOTH</a:t>
            </a:r>
          </a:p>
          <a:p>
            <a:pPr algn="l"/>
            <a:r>
              <a:rPr sz="1100" b="0">
                <a:solidFill>
                  <a:srgbClr val="1F2933"/>
                </a:solidFill>
                <a:latin typeface="Calibri"/>
              </a:rPr>
              <a:t>    new Transfer(...) call sites (REJECTED and COMPLETED branches)</a:t>
            </a:r>
          </a:p>
          <a:p>
            <a:pPr algn="l"/>
            <a:r>
              <a:rPr sz="1100" b="0">
                <a:solidFill>
                  <a:srgbClr val="1F2933"/>
                </a:solidFill>
                <a:latin typeface="Calibri"/>
              </a:rPr>
              <a:t>5  dto.TransferResponse — add component + map it in from(Transfer)</a:t>
            </a:r>
          </a:p>
          <a:p>
            <a:pPr algn="l"/>
            <a:r>
              <a:rPr sz="1100" b="0">
                <a:solidFill>
                  <a:srgbClr val="1F2933"/>
                </a:solidFill>
                <a:latin typeface="Calibri"/>
              </a:rPr>
              <a:t>6  test — extend the request(...) helper + add assertions</a:t>
            </a:r>
          </a:p>
          <a:p>
            <a:pPr algn="l"/>
            <a:r>
              <a:rPr sz="1100" b="1">
                <a:solidFill>
                  <a:srgbClr val="B45E12"/>
                </a:solidFill>
                <a:latin typeface="Calibri"/>
              </a:rPr>
              <a:t>PITFALL: Transfer has TWO construction sites in execute() — update</a:t>
            </a:r>
          </a:p>
          <a:p>
            <a:pPr algn="l"/>
            <a:r>
              <a:rPr sz="1100" b="1">
                <a:solidFill>
                  <a:srgbClr val="B45E12"/>
                </a:solidFill>
                <a:latin typeface="Calibri"/>
              </a:rPr>
              <a:t>both or the field is silently null on one path.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79" y="1600200"/>
            <a:ext cx="4251960" cy="2240280"/>
          </a:xfrm>
          <a:prstGeom prst="roundRect">
            <a:avLst>
              <a:gd name="adj" fmla="val 5000"/>
            </a:avLst>
          </a:prstGeom>
          <a:solidFill>
            <a:srgbClr val="FDF3E3"/>
          </a:solidFill>
          <a:ln w="19050">
            <a:solidFill>
              <a:srgbClr val="D9A440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/>
            <a:r>
              <a:rPr sz="1200" b="1">
                <a:solidFill>
                  <a:srgbClr val="B45E12"/>
                </a:solidFill>
                <a:latin typeface="Calibri"/>
              </a:rPr>
              <a:t>[ DEMO ASSET — TO BE CAPTURED ]</a:t>
            </a:r>
          </a:p>
          <a:p>
            <a:pPr algn="ctr"/>
            <a:r>
              <a:rPr sz="1600" b="1">
                <a:solidFill>
                  <a:srgbClr val="1F2933"/>
                </a:solidFill>
                <a:latin typeface="Calibri"/>
              </a:rPr>
              <a:t>Pack loaded in GitLab Duo</a:t>
            </a:r>
          </a:p>
          <a:p>
            <a:pPr algn="ctr"/>
            <a:r>
              <a:rPr sz="1200" b="0">
                <a:solidFill>
                  <a:srgbClr val="5A6B7A"/>
                </a:solidFill>
                <a:latin typeface="Calibri"/>
              </a:rPr>
              <a:t>Screenshot: files attached in a Duo chat session in IntelliJ / VS Code.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4023360"/>
            <a:ext cx="4251960" cy="2240280"/>
          </a:xfrm>
          <a:prstGeom prst="roundRect">
            <a:avLst>
              <a:gd name="adj" fmla="val 5000"/>
            </a:avLst>
          </a:prstGeom>
          <a:solidFill>
            <a:srgbClr val="FDF3E3"/>
          </a:solidFill>
          <a:ln w="19050">
            <a:solidFill>
              <a:srgbClr val="D9A440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/>
            <a:r>
              <a:rPr sz="1200" b="1">
                <a:solidFill>
                  <a:srgbClr val="B45E12"/>
                </a:solidFill>
                <a:latin typeface="Calibri"/>
              </a:rPr>
              <a:t>[ DEMO ASSET — TO BE CAPTURED ]</a:t>
            </a:r>
          </a:p>
          <a:p>
            <a:pPr algn="ctr"/>
            <a:r>
              <a:rPr sz="1600" b="1">
                <a:solidFill>
                  <a:srgbClr val="1F2933"/>
                </a:solidFill>
                <a:latin typeface="Calibri"/>
              </a:rPr>
              <a:t>Pack loaded in Copilot</a:t>
            </a:r>
          </a:p>
          <a:p>
            <a:pPr algn="ctr"/>
            <a:r>
              <a:rPr sz="1200" b="0">
                <a:solidFill>
                  <a:srgbClr val="5A6B7A"/>
                </a:solidFill>
                <a:latin typeface="Calibri"/>
              </a:rPr>
              <a:t>Screenshot: same pack attached to a Microsoft Copilot chat session.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502920" cy="82296"/>
          </a:xfrm>
          <a:prstGeom prst="rect">
            <a:avLst/>
          </a:prstGeom>
          <a:solidFill>
            <a:srgbClr val="0E6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E63B0"/>
                </a:solidFill>
                <a:latin typeface="Calibri"/>
              </a:rPr>
              <a:t>MAKING IT WORK</a:t>
            </a:r>
          </a:p>
          <a:p>
            <a:pPr algn="l"/>
            <a:r>
              <a:rPr sz="3000" b="1">
                <a:solidFill>
                  <a:srgbClr val="1F2933"/>
                </a:solidFill>
                <a:latin typeface="Calibri"/>
              </a:rPr>
              <a:t>Finding the best generation prompt — underway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B7A"/>
                </a:solidFill>
                <a:latin typeface="Calibri"/>
              </a:rPr>
              <a:t>Not hypothetical: five prompt strategies are written, and all five packs have been generated against a sample Spring Boot payments service.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2148840" cy="16916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0E6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250" b="1">
                <a:solidFill>
                  <a:srgbClr val="0E63B0"/>
                </a:solidFill>
                <a:latin typeface="Calibri"/>
              </a:rPr>
              <a:t>1 · Structured spec</a:t>
            </a:r>
          </a:p>
          <a:p>
            <a:pPr algn="l"/>
            <a:r>
              <a:rPr sz="1050" b="0">
                <a:solidFill>
                  <a:srgbClr val="1F2933"/>
                </a:solidFill>
                <a:latin typeface="Calibri"/>
              </a:rPr>
              <a:t>Fixed 11-file specification</a:t>
            </a:r>
          </a:p>
          <a:p>
            <a:pPr algn="l"/>
            <a:r>
              <a:rPr sz="1050" b="1">
                <a:solidFill>
                  <a:srgbClr val="5A6B7A"/>
                </a:solidFill>
                <a:latin typeface="Calibri"/>
              </a:rPr>
              <a:t>~5.4k tokens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62072" y="2057400"/>
            <a:ext cx="2148840" cy="16916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0E6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250" b="1">
                <a:solidFill>
                  <a:srgbClr val="0E63B0"/>
                </a:solidFill>
                <a:latin typeface="Calibri"/>
              </a:rPr>
              <a:t>2 · Tech-lead persona</a:t>
            </a:r>
          </a:p>
          <a:p>
            <a:pPr algn="l"/>
            <a:r>
              <a:rPr sz="1050" b="0">
                <a:solidFill>
                  <a:srgbClr val="1F2933"/>
                </a:solidFill>
                <a:latin typeface="Calibri"/>
              </a:rPr>
              <a:t>Onboarding-brief style, AI picks structure</a:t>
            </a:r>
          </a:p>
          <a:p>
            <a:pPr algn="l"/>
            <a:r>
              <a:rPr sz="1050" b="1">
                <a:solidFill>
                  <a:srgbClr val="5A6B7A"/>
                </a:solidFill>
                <a:latin typeface="Calibri"/>
              </a:rPr>
              <a:t>~2.7k tokens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75504" y="2057400"/>
            <a:ext cx="2148840" cy="16916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0E6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250" b="1">
                <a:solidFill>
                  <a:srgbClr val="0E63B0"/>
                </a:solidFill>
                <a:latin typeface="Calibri"/>
              </a:rPr>
              <a:t>3 · Compact budget</a:t>
            </a:r>
          </a:p>
          <a:p>
            <a:pPr algn="l"/>
            <a:r>
              <a:rPr sz="1050" b="0">
                <a:solidFill>
                  <a:srgbClr val="1F2933"/>
                </a:solidFill>
                <a:latin typeface="Calibri"/>
              </a:rPr>
              <a:t>3 dense files, hard token cap</a:t>
            </a:r>
          </a:p>
          <a:p>
            <a:pPr algn="l"/>
            <a:r>
              <a:rPr sz="1050" b="1">
                <a:solidFill>
                  <a:srgbClr val="5A6B7A"/>
                </a:solidFill>
                <a:latin typeface="Calibri"/>
              </a:rPr>
              <a:t>~1.7k tokens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88936" y="2057400"/>
            <a:ext cx="2148840" cy="16916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0E6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250" b="1">
                <a:solidFill>
                  <a:srgbClr val="0E63B0"/>
                </a:solidFill>
                <a:latin typeface="Calibri"/>
              </a:rPr>
              <a:t>4 · Task cookbook</a:t>
            </a:r>
          </a:p>
          <a:p>
            <a:pPr algn="l"/>
            <a:r>
              <a:rPr sz="1050" b="0">
                <a:solidFill>
                  <a:srgbClr val="1F2933"/>
                </a:solidFill>
                <a:latin typeface="Calibri"/>
              </a:rPr>
              <a:t>Recipes for each change type + FAQ</a:t>
            </a:r>
          </a:p>
          <a:p>
            <a:pPr algn="l"/>
            <a:r>
              <a:rPr sz="1050" b="1">
                <a:solidFill>
                  <a:srgbClr val="5A6B7A"/>
                </a:solidFill>
                <a:latin typeface="Calibri"/>
              </a:rPr>
              <a:t>~3.6k tokens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02368" y="2057400"/>
            <a:ext cx="2148840" cy="16916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0E6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250" b="1">
                <a:solidFill>
                  <a:srgbClr val="0E63B0"/>
                </a:solidFill>
                <a:latin typeface="Calibri"/>
              </a:rPr>
              <a:t>5 · Self-critique</a:t>
            </a:r>
          </a:p>
          <a:p>
            <a:pPr algn="l"/>
            <a:r>
              <a:rPr sz="1050" b="0">
                <a:solidFill>
                  <a:srgbClr val="1F2933"/>
                </a:solidFill>
                <a:latin typeface="Calibri"/>
              </a:rPr>
              <a:t>Generate, adversarially self-test, patch</a:t>
            </a:r>
          </a:p>
          <a:p>
            <a:pPr algn="l"/>
            <a:r>
              <a:rPr sz="1050" b="1">
                <a:solidFill>
                  <a:srgbClr val="5A6B7A"/>
                </a:solidFill>
                <a:latin typeface="Calibri"/>
              </a:rPr>
              <a:t>~6.4k tokens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69080"/>
            <a:ext cx="11201400" cy="21945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400" b="1">
                <a:solidFill>
                  <a:srgbClr val="0A467E"/>
                </a:solidFill>
                <a:latin typeface="Calibri"/>
              </a:rPr>
              <a:t>Evaluation criteria (each variant scored on)</a:t>
            </a:r>
          </a:p>
          <a:p>
            <a:pPr algn="l"/>
            <a:r>
              <a:rPr sz="1250" b="0">
                <a:solidFill>
                  <a:srgbClr val="1F2933"/>
                </a:solidFill>
                <a:latin typeface="Calibri"/>
              </a:rPr>
              <a:t>• Accuracy — 30-symbol spot check vs the real code   • Completeness — endpoints, entities, conventions, gotchas</a:t>
            </a:r>
          </a:p>
          <a:p>
            <a:pPr algn="l"/>
            <a:r>
              <a:rPr sz="1250" b="0">
                <a:solidFill>
                  <a:srgbClr val="1F2933"/>
                </a:solidFill>
                <a:latin typeface="Calibri"/>
              </a:rPr>
              <a:t>• Size — fits Duo/Copilot context with headroom for conversation   • Hygiene — zero secrets/hostnames</a:t>
            </a:r>
          </a:p>
          <a:p>
            <a:pPr algn="l"/>
            <a:r>
              <a:rPr sz="1250" b="0">
                <a:solidFill>
                  <a:srgbClr val="1F2933"/>
                </a:solidFill>
                <a:latin typeface="Calibri"/>
              </a:rPr>
              <a:t>• Usefulness — fixed Q&amp;A set + a feature task run in real Duo sessions   • Workflow — plan/approve/execute behaviour holds</a:t>
            </a:r>
          </a:p>
          <a:p>
            <a:pPr algn="l"/>
            <a:r>
              <a:rPr sz="400" b="0">
                <a:solidFill>
                  <a:srgbClr val="1F2933"/>
                </a:solidFill>
                <a:latin typeface="Calibri"/>
              </a:rPr>
              <a:t/>
            </a:r>
          </a:p>
          <a:p>
            <a:pPr algn="l"/>
            <a:r>
              <a:rPr sz="1300" b="1">
                <a:solidFill>
                  <a:srgbClr val="1E7A45"/>
                </a:solidFill>
                <a:latin typeface="Calibri"/>
              </a:rPr>
              <a:t>Status: objective checks (accuracy, size, hygiene, coverage) complete for all five — Duo session testing is next.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502920" cy="82296"/>
          </a:xfrm>
          <a:prstGeom prst="rect">
            <a:avLst/>
          </a:prstGeom>
          <a:solidFill>
            <a:srgbClr val="0E6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E63B0"/>
                </a:solidFill>
                <a:latin typeface="Calibri"/>
              </a:rPr>
              <a:t>VALIDATION TESTING</a:t>
            </a:r>
          </a:p>
          <a:p>
            <a:pPr algn="l"/>
            <a:r>
              <a:rPr sz="3000" b="1">
                <a:solidFill>
                  <a:srgbClr val="1F2933"/>
                </a:solidFill>
                <a:latin typeface="Calibri"/>
              </a:rPr>
              <a:t>Proving the packs load and actually help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91640"/>
          <a:ext cx="11201398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7183"/>
                <a:gridCol w="6059773"/>
                <a:gridCol w="2754442"/>
              </a:tblGrid>
              <a:tr h="6583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 marL="73152" marR="73152" marT="36576" marB="36576">
                    <a:solidFill>
                      <a:srgbClr val="0E63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is tested</a:t>
                      </a:r>
                    </a:p>
                  </a:txBody>
                  <a:tcPr marL="73152" marR="73152" marT="36576" marB="36576">
                    <a:solidFill>
                      <a:srgbClr val="0E63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73152" marR="73152" marT="36576" marB="36576">
                    <a:solidFill>
                      <a:srgbClr val="0E63B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F2933"/>
                          </a:solidFill>
                          <a:latin typeface="Calibri"/>
                        </a:rPr>
                        <a:t>1 · Objective checks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Size vs caps, secret/hostname hygiene, 30-symbol accuracy vs code, coverage, workflow file complete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DONE — all 5 variants pass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F2933"/>
                          </a:solidFill>
                          <a:latin typeface="Calibri"/>
                        </a:rPr>
                        <a:t>2 · Duo Q&amp;A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Fixed 8-question set per pack in fresh Duo sessions; answers must cite real classes (0–2 each)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Next — protocol ready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F2933"/>
                          </a:solidFill>
                          <a:latin typeface="Calibri"/>
                        </a:rPr>
                        <a:t>3 · Duo agentic workflow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Same feature request per pack: plan-only first, refusal before APPROVED, step-wise code, error handling (9 gates)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Next — protocol ready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F2933"/>
                          </a:solidFill>
                          <a:latin typeface="Calibri"/>
                        </a:rPr>
                        <a:t>4 · Decision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Weighted score (workflow 40%, Q&amp;A 30%, objective 20%, practicality 10%) picks the winner; hybrid prompt built from best parts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After Duo runs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5257800"/>
            <a:ext cx="11201400" cy="1051560"/>
          </a:xfrm>
          <a:prstGeom prst="roundRect">
            <a:avLst>
              <a:gd name="adj" fmla="val 6000"/>
            </a:avLst>
          </a:prstGeom>
          <a:solidFill>
            <a:srgbClr val="E3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/>
            <a:r>
              <a:rPr sz="1400" b="1">
                <a:solidFill>
                  <a:srgbClr val="0A467E"/>
                </a:solidFill>
                <a:latin typeface="Calibri"/>
              </a:rPr>
              <a:t>Everything is scripted and repeatable: </a:t>
            </a:r>
            <a:r>
              <a:rPr sz="1400" b="0">
                <a:solidFill>
                  <a:srgbClr val="1F2933"/>
                </a:solidFill>
                <a:latin typeface="Calibri"/>
              </a:rPr>
              <a:t>scoring rubric + scoresheet are in the repo, and Duo Q&amp;A runs can optionally be automated via GitLab's aiAction API from inside our network.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502920" cy="82296"/>
          </a:xfrm>
          <a:prstGeom prst="rect">
            <a:avLst/>
          </a:prstGeom>
          <a:solidFill>
            <a:srgbClr val="0E6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E63B0"/>
                </a:solidFill>
                <a:latin typeface="Calibri"/>
              </a:rPr>
              <a:t>VALIDATION TESTING</a:t>
            </a:r>
          </a:p>
          <a:p>
            <a:pPr algn="l"/>
            <a:r>
              <a:rPr sz="3000" b="1">
                <a:solidFill>
                  <a:srgbClr val="1F2933"/>
                </a:solidFill>
                <a:latin typeface="Calibri"/>
              </a:rPr>
              <a:t>Early findings from the experiment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1120140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600" b="1">
                <a:solidFill>
                  <a:srgbClr val="1E7A45"/>
                </a:solidFill>
                <a:latin typeface="Calibri"/>
              </a:rPr>
              <a:t>The planted trap worked — and separated the strategies</a:t>
            </a:r>
          </a:p>
          <a:p>
            <a:pPr algn="l"/>
            <a:r>
              <a:rPr sz="1350" b="0">
                <a:solidFill>
                  <a:srgbClr val="1F2933"/>
                </a:solidFill>
                <a:latin typeface="Calibri"/>
              </a:rPr>
              <a:t>The sample service constructs its Transfer entity in TWO code paths; a change plan that misses one silently loses data. Only the task-cookbook pack surfaced this on its own, and the self-critique prompt caught it by testing its own output (4 real defects found and patched). Reference-style packs documented what exists — but not what a change touches.</a:t>
            </a:r>
          </a:p>
          <a:p>
            <a:pPr algn="l"/>
            <a:r>
              <a:rPr sz="400" b="0">
                <a:solidFill>
                  <a:srgbClr val="1F2933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0A467E"/>
                </a:solidFill>
                <a:latin typeface="Calibri"/>
              </a:rPr>
              <a:t>Lesson: packs must encode change recipes and be self-tested, not just describe the code.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160520"/>
            <a:ext cx="5486400" cy="21488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400" b="1">
                <a:solidFill>
                  <a:srgbClr val="0A467E"/>
                </a:solidFill>
                <a:latin typeface="Calibri"/>
              </a:rPr>
              <a:t>Working ranking (pre-Duo)</a:t>
            </a:r>
          </a:p>
          <a:p>
            <a:pPr algn="l"/>
            <a:r>
              <a:rPr sz="1250" b="0">
                <a:solidFill>
                  <a:srgbClr val="1F2933"/>
                </a:solidFill>
                <a:latin typeface="Calibri"/>
              </a:rPr>
              <a:t>1. Task cookbook — best change support per token</a:t>
            </a:r>
          </a:p>
          <a:p>
            <a:pPr algn="l"/>
            <a:r>
              <a:rPr sz="1250" b="0">
                <a:solidFill>
                  <a:srgbClr val="1F2933"/>
                </a:solidFill>
                <a:latin typeface="Calibri"/>
              </a:rPr>
              <a:t>2. Self-critique — most complete, biggest pack</a:t>
            </a:r>
          </a:p>
          <a:p>
            <a:pPr algn="l"/>
            <a:r>
              <a:rPr sz="1250" b="0">
                <a:solidFill>
                  <a:srgbClr val="1F2933"/>
                </a:solidFill>
                <a:latin typeface="Calibri"/>
              </a:rPr>
              <a:t>3. Compact — full facts at 1/4 the tokens</a:t>
            </a:r>
          </a:p>
          <a:p>
            <a:pPr algn="l"/>
            <a:r>
              <a:rPr sz="1250" b="0">
                <a:solidFill>
                  <a:srgbClr val="1F2933"/>
                </a:solidFill>
                <a:latin typeface="Calibri"/>
              </a:rPr>
              <a:t>4. Persona  5. Structured spec</a:t>
            </a:r>
          </a:p>
          <a:p>
            <a:pPr algn="l"/>
            <a:r>
              <a:rPr sz="1250" b="1">
                <a:solidFill>
                  <a:srgbClr val="5A6B7A"/>
                </a:solidFill>
                <a:latin typeface="Calibri"/>
              </a:rPr>
              <a:t>Duo sessions confirm or refute this.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4160520"/>
            <a:ext cx="5486400" cy="21488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400" b="1">
                <a:solidFill>
                  <a:srgbClr val="0A467E"/>
                </a:solidFill>
                <a:latin typeface="Calibri"/>
              </a:rPr>
              <a:t>Also proven along the way</a:t>
            </a:r>
          </a:p>
          <a:p>
            <a:pPr algn="l"/>
            <a:r>
              <a:rPr sz="1250" b="0">
                <a:solidFill>
                  <a:srgbClr val="1F2933"/>
                </a:solidFill>
                <a:latin typeface="Calibri"/>
              </a:rPr>
              <a:t>• Packs honestly mark gaps (“UNKNOWN — verify with team”)</a:t>
            </a:r>
          </a:p>
          <a:p>
            <a:pPr algn="l"/>
            <a:r>
              <a:rPr sz="1250" b="0">
                <a:solidFill>
                  <a:srgbClr val="1F2933"/>
                </a:solidFill>
                <a:latin typeface="Calibri"/>
              </a:rPr>
              <a:t>• Zero hallucinated classes across 30-symbol spot checks</a:t>
            </a:r>
          </a:p>
          <a:p>
            <a:pPr algn="l"/>
            <a:r>
              <a:rPr sz="1250" b="0">
                <a:solidFill>
                  <a:srgbClr val="1F2933"/>
                </a:solidFill>
                <a:latin typeface="Calibri"/>
              </a:rPr>
              <a:t>• Hygiene scans clean — no secrets/hostnames leak</a:t>
            </a:r>
          </a:p>
          <a:p>
            <a:pPr algn="l"/>
            <a:r>
              <a:rPr sz="1250" b="0">
                <a:solidFill>
                  <a:srgbClr val="1F2933"/>
                </a:solidFill>
                <a:latin typeface="Calibri"/>
              </a:rPr>
              <a:t>• Jira ticket template ready for licensed devs to reuse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502920" cy="82296"/>
          </a:xfrm>
          <a:prstGeom prst="rect">
            <a:avLst/>
          </a:prstGeom>
          <a:solidFill>
            <a:srgbClr val="0E6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E63B0"/>
                </a:solidFill>
                <a:latin typeface="Calibri"/>
              </a:rPr>
              <a:t>MAKING IT WORK</a:t>
            </a:r>
          </a:p>
          <a:p>
            <a:pPr algn="l"/>
            <a:r>
              <a:rPr sz="3000" b="1">
                <a:solidFill>
                  <a:srgbClr val="1F2933"/>
                </a:solidFill>
                <a:latin typeface="Calibri"/>
              </a:rPr>
              <a:t>Keeping packs fresh (and cheap to keep fresh)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11201400" cy="10058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0E6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/>
            <a:r>
              <a:rPr sz="1400" b="1">
                <a:solidFill>
                  <a:srgbClr val="0A467E"/>
                </a:solidFill>
                <a:latin typeface="Calibri"/>
              </a:rPr>
              <a:t>Regeneration is one command — </a:t>
            </a:r>
            <a:r>
              <a:rPr sz="1350" b="0">
                <a:solidFill>
                  <a:srgbClr val="1F2933"/>
                </a:solidFill>
                <a:latin typeface="Calibri"/>
              </a:rPr>
              <a:t>Packs are generated, not hand-written. Refreshing a service is re-running the winning prompt — minutes, not days.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862072"/>
            <a:ext cx="11201400" cy="10058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0E6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/>
            <a:r>
              <a:rPr sz="1400" b="1">
                <a:solidFill>
                  <a:srgbClr val="0A467E"/>
                </a:solidFill>
                <a:latin typeface="Calibri"/>
              </a:rPr>
              <a:t>Cadence — </a:t>
            </a:r>
            <a:r>
              <a:rPr sz="1350" b="0">
                <a:solidFill>
                  <a:srgbClr val="1F2933"/>
                </a:solidFill>
                <a:latin typeface="Calibri"/>
              </a:rPr>
              <a:t>Regenerate on a regular rhythm (e.g. each sprint or each release), plus ad-hoc after significant merges to a service.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32504"/>
            <a:ext cx="11201400" cy="10058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0E6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/>
            <a:r>
              <a:rPr sz="1400" b="1">
                <a:solidFill>
                  <a:srgbClr val="0A467E"/>
                </a:solidFill>
                <a:latin typeface="Calibri"/>
              </a:rPr>
              <a:t>Ownership — </a:t>
            </a:r>
            <a:r>
              <a:rPr sz="1350" b="0">
                <a:solidFill>
                  <a:srgbClr val="1F2933"/>
                </a:solidFill>
                <a:latin typeface="Calibri"/>
              </a:rPr>
              <a:t>The licensed Claude Code developers own generation; each service team spot-checks its own pack.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202936"/>
            <a:ext cx="11201400" cy="10058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B45E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/>
            <a:r>
              <a:rPr sz="1400" b="1">
                <a:solidFill>
                  <a:srgbClr val="0A467E"/>
                </a:solidFill>
                <a:latin typeface="Calibri"/>
              </a:rPr>
              <a:t>Drift guardrails — </a:t>
            </a:r>
            <a:r>
              <a:rPr sz="1350" b="0">
                <a:solidFill>
                  <a:srgbClr val="1F2933"/>
                </a:solidFill>
                <a:latin typeface="Calibri"/>
              </a:rPr>
              <a:t>Every pack carries a generated-on date + commit hash. Optional CI reminder when a service changes heavily since last generation.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502920" cy="82296"/>
          </a:xfrm>
          <a:prstGeom prst="rect">
            <a:avLst/>
          </a:prstGeom>
          <a:solidFill>
            <a:srgbClr val="0E6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E63B0"/>
                </a:solidFill>
                <a:latin typeface="Calibri"/>
              </a:rPr>
              <a:t>MAKING IT WORK</a:t>
            </a:r>
          </a:p>
          <a:p>
            <a:pPr algn="l"/>
            <a:r>
              <a:rPr sz="3000" b="1">
                <a:solidFill>
                  <a:srgbClr val="1F2933"/>
                </a:solidFill>
                <a:latin typeface="Calibri"/>
              </a:rPr>
              <a:t>Security &amp; compliance posture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11201400" cy="10058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/>
            <a:r>
              <a:rPr sz="1400" b="1">
                <a:solidFill>
                  <a:srgbClr val="0A467E"/>
                </a:solidFill>
                <a:latin typeface="Calibri"/>
              </a:rPr>
              <a:t>No new data exposure — </a:t>
            </a:r>
            <a:r>
              <a:rPr sz="1350" b="0">
                <a:solidFill>
                  <a:srgbClr val="1F2933"/>
                </a:solidFill>
                <a:latin typeface="Calibri"/>
              </a:rPr>
              <a:t>Packs describe code that Duo and Copilot can already access through their approved integrations. We change the form of the context, not its scope.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862072"/>
            <a:ext cx="11201400" cy="10058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/>
            <a:r>
              <a:rPr sz="1400" b="1">
                <a:solidFill>
                  <a:srgbClr val="0A467E"/>
                </a:solidFill>
                <a:latin typeface="Calibri"/>
              </a:rPr>
              <a:t>No new tools, no new licences — </a:t>
            </a:r>
            <a:r>
              <a:rPr sz="1350" b="0">
                <a:solidFill>
                  <a:srgbClr val="1F2933"/>
                </a:solidFill>
                <a:latin typeface="Calibri"/>
              </a:rPr>
              <a:t>Everything runs on tooling that is already procured and security-approved: Claude Code for the few, Duo / Copilot for the many.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32504"/>
            <a:ext cx="11201400" cy="10058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/>
            <a:r>
              <a:rPr sz="1400" b="1">
                <a:solidFill>
                  <a:srgbClr val="0A467E"/>
                </a:solidFill>
                <a:latin typeface="Calibri"/>
              </a:rPr>
              <a:t>Human in the loop by design — </a:t>
            </a:r>
            <a:r>
              <a:rPr sz="1350" b="0">
                <a:solidFill>
                  <a:srgbClr val="1F2933"/>
                </a:solidFill>
                <a:latin typeface="Calibri"/>
              </a:rPr>
              <a:t>Chat AIs only produce plans and snippets; a developer applies every change manually and it goes through normal MR review.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202936"/>
            <a:ext cx="11201400" cy="10058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B45E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/>
            <a:r>
              <a:rPr sz="1400" b="1">
                <a:solidFill>
                  <a:srgbClr val="0A467E"/>
                </a:solidFill>
                <a:latin typeface="Calibri"/>
              </a:rPr>
              <a:t>Content hygiene — </a:t>
            </a:r>
            <a:r>
              <a:rPr sz="1350" b="0">
                <a:solidFill>
                  <a:srgbClr val="1F2933"/>
                </a:solidFill>
                <a:latin typeface="Calibri"/>
              </a:rPr>
              <a:t>Generation prompts explicitly exclude secrets, credentials, internal hostnames and personal data; packs are reviewed before first commit.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502920" cy="82296"/>
          </a:xfrm>
          <a:prstGeom prst="rect">
            <a:avLst/>
          </a:prstGeom>
          <a:solidFill>
            <a:srgbClr val="0E6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E63B0"/>
                </a:solidFill>
                <a:latin typeface="Calibri"/>
              </a:rPr>
              <a:t>BENEFITS</a:t>
            </a:r>
          </a:p>
          <a:p>
            <a:pPr algn="l"/>
            <a:r>
              <a:rPr sz="3000" b="1">
                <a:solidFill>
                  <a:srgbClr val="1F2933"/>
                </a:solidFill>
                <a:latin typeface="Calibri"/>
              </a:rPr>
              <a:t>What we get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611880" cy="1874519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500" b="1">
                <a:solidFill>
                  <a:srgbClr val="0A467E"/>
                </a:solidFill>
                <a:latin typeface="Calibri"/>
              </a:rPr>
              <a:t>Whole-team uplift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Calibri"/>
              </a:rPr>
              <a:t>Every developer gets near-agentic AI help from the licences we already pay for — no new seats needed.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783080"/>
            <a:ext cx="3611880" cy="1874519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500" b="1">
                <a:solidFill>
                  <a:srgbClr val="0A467E"/>
                </a:solidFill>
                <a:latin typeface="Calibri"/>
              </a:rPr>
              <a:t>Faster onboarding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Calibri"/>
              </a:rPr>
              <a:t>New joiners read the pack (or chat with it) instead of spelunking for weeks.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783080"/>
            <a:ext cx="3611880" cy="1874519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500" b="1">
                <a:solidFill>
                  <a:srgbClr val="0A467E"/>
                </a:solidFill>
                <a:latin typeface="Calibri"/>
              </a:rPr>
              <a:t>Living documentation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Calibri"/>
              </a:rPr>
              <a:t>Regenerable, always-current service docs as a permanent side effect.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886200"/>
            <a:ext cx="3611880" cy="1874519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500" b="1">
                <a:solidFill>
                  <a:srgbClr val="0A467E"/>
                </a:solidFill>
                <a:latin typeface="Calibri"/>
              </a:rPr>
              <a:t>Better reviews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Calibri"/>
              </a:rPr>
              <a:t>Standardised plans make AI-assisted changes predictable and easy to review.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3886200"/>
            <a:ext cx="3611880" cy="1874519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500" b="1">
                <a:solidFill>
                  <a:srgbClr val="0A467E"/>
                </a:solidFill>
                <a:latin typeface="Calibri"/>
              </a:rPr>
              <a:t>Compounding asset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Calibri"/>
              </a:rPr>
              <a:t>Prompts and templates keep improving and apply to every new service.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3886200"/>
            <a:ext cx="3611880" cy="1874519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500" b="1">
                <a:solidFill>
                  <a:srgbClr val="0A467E"/>
                </a:solidFill>
                <a:latin typeface="Calibri"/>
              </a:rPr>
              <a:t>Low cost to try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Calibri"/>
              </a:rPr>
              <a:t>A small time-boxed experiment — and most of it is already done; no procurement, no platform work.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A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502920" cy="82296"/>
          </a:xfrm>
          <a:prstGeom prst="rect">
            <a:avLst/>
          </a:prstGeom>
          <a:solidFill>
            <a:srgbClr val="0E6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E63B0"/>
                </a:solidFill>
                <a:latin typeface="Calibri"/>
              </a:rPr>
              <a:t>RISKS &amp; MITIGATIONS</a:t>
            </a:r>
          </a:p>
          <a:p>
            <a:pPr algn="l"/>
            <a:r>
              <a:rPr sz="3000" b="1">
                <a:solidFill>
                  <a:srgbClr val="1F2933"/>
                </a:solidFill>
                <a:latin typeface="Calibri"/>
              </a:rPr>
              <a:t>Risks and how we handle them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91640"/>
          <a:ext cx="1120139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6219"/>
                <a:gridCol w="7345180"/>
              </a:tblGrid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Risk</a:t>
                      </a:r>
                    </a:p>
                  </a:txBody>
                  <a:tcPr marL="73152" marR="73152" marT="36576" marB="36576">
                    <a:solidFill>
                      <a:srgbClr val="0E63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Mitigation</a:t>
                      </a:r>
                    </a:p>
                  </a:txBody>
                  <a:tcPr marL="73152" marR="73152" marT="36576" marB="36576">
                    <a:solidFill>
                      <a:srgbClr val="0E63B0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F2933"/>
                          </a:solidFill>
                          <a:latin typeface="Calibri"/>
                        </a:rPr>
                        <a:t>Packs go stale and mislead the AI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Regular regeneration cadence; generated-on date + commit hash in every pack; regeneration is one command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F2933"/>
                          </a:solidFill>
                          <a:latin typeface="Calibri"/>
                        </a:rPr>
                        <a:t>Over-reliance on AI-produced plans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Plan template forces explicit test &amp; rollback sections; manual apply + normal MR review remain mandatory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F2933"/>
                          </a:solidFill>
                          <a:latin typeface="Calibri"/>
                        </a:rPr>
                        <a:t>Packs too large for chat context caps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Size is an explicit evaluation criterion; split or trim files per tool limits during validation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F2933"/>
                          </a:solidFill>
                          <a:latin typeface="Calibri"/>
                        </a:rPr>
                        <a:t>Maintenance burden on licensed devs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Generation is automated; effort is minutes per service per cycle, planned as routine squad work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F2933"/>
                          </a:solidFill>
                          <a:latin typeface="Calibri"/>
                        </a:rPr>
                        <a:t>Quality varies across services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Standard prompts + acceptance bar per pack; service team spot-check before first commit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88136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A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502920" cy="82296"/>
          </a:xfrm>
          <a:prstGeom prst="rect">
            <a:avLst/>
          </a:prstGeom>
          <a:solidFill>
            <a:srgbClr val="0E6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E63B0"/>
                </a:solidFill>
                <a:latin typeface="Calibri"/>
              </a:rPr>
              <a:t>OUR TEAM</a:t>
            </a:r>
          </a:p>
          <a:p>
            <a:pPr algn="l"/>
            <a:r>
              <a:rPr sz="3000" b="1">
                <a:solidFill>
                  <a:srgbClr val="1F2933"/>
                </a:solidFill>
                <a:latin typeface="Calibri"/>
              </a:rPr>
              <a:t>What this gives each role in a squad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0E6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600" b="1">
                <a:solidFill>
                  <a:srgbClr val="0E63B0"/>
                </a:solidFill>
                <a:latin typeface="Calibri"/>
              </a:rPr>
              <a:t>Developers</a:t>
            </a:r>
          </a:p>
          <a:p>
            <a:pPr algn="l"/>
            <a:r>
              <a:rPr sz="1200" b="0">
                <a:solidFill>
                  <a:srgbClr val="1F2933"/>
                </a:solidFill>
                <a:latin typeface="Calibri"/>
              </a:rPr>
              <a:t>• Duo/Copilot answers in terms of OUR services — real classes, endpoints, conventions</a:t>
            </a:r>
          </a:p>
          <a:p>
            <a:pPr algn="l"/>
            <a:r>
              <a:rPr sz="1200" b="0">
                <a:solidFill>
                  <a:srgbClr val="1F2933"/>
                </a:solidFill>
                <a:latin typeface="Calibri"/>
              </a:rPr>
              <a:t>• Every change starts from a reviewed plan with step-by-step, paste-ready code</a:t>
            </a:r>
          </a:p>
          <a:p>
            <a:pPr algn="l"/>
            <a:r>
              <a:rPr sz="1200" b="0">
                <a:solidFill>
                  <a:srgbClr val="1F2933"/>
                </a:solidFill>
                <a:latin typeface="Calibri"/>
              </a:rPr>
              <a:t>• New joiners and cross-squad moves get productive on an unfamiliar service fast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69164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600" b="1">
                <a:solidFill>
                  <a:srgbClr val="1E7A45"/>
                </a:solidFill>
                <a:latin typeface="Calibri"/>
              </a:rPr>
              <a:t>Testers</a:t>
            </a:r>
          </a:p>
          <a:p>
            <a:pPr algn="l"/>
            <a:r>
              <a:rPr sz="1200" b="0">
                <a:solidFill>
                  <a:srgbClr val="1F2933"/>
                </a:solidFill>
                <a:latin typeface="Calibri"/>
              </a:rPr>
              <a:t>• Every AI plan includes a test plan section, in the repo's own test conventions</a:t>
            </a:r>
          </a:p>
          <a:p>
            <a:pPr algn="l"/>
            <a:r>
              <a:rPr sz="1200" b="0">
                <a:solidFill>
                  <a:srgbClr val="1F2933"/>
                </a:solidFill>
                <a:latin typeface="Calibri"/>
              </a:rPr>
              <a:t>• TESTING.md tells the AI (and the tester) the layers, fixtures and run commands</a:t>
            </a:r>
          </a:p>
          <a:p>
            <a:pPr algn="l"/>
            <a:r>
              <a:rPr sz="1200" b="0">
                <a:solidFill>
                  <a:srgbClr val="1F2933"/>
                </a:solidFill>
                <a:latin typeface="Calibri"/>
              </a:rPr>
              <a:t>• GOTCHAS.md turns tribal knowledge of fragile areas into explicit test targets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69164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B45E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600" b="1">
                <a:solidFill>
                  <a:srgbClr val="B45E12"/>
                </a:solidFill>
                <a:latin typeface="Calibri"/>
              </a:rPr>
              <a:t>DevOps</a:t>
            </a:r>
          </a:p>
          <a:p>
            <a:pPr algn="l"/>
            <a:r>
              <a:rPr sz="1200" b="0">
                <a:solidFill>
                  <a:srgbClr val="1F2933"/>
                </a:solidFill>
                <a:latin typeface="Calibri"/>
              </a:rPr>
              <a:t>• CONFIG-PROFILES.md and DEPLOYMENT.md make config and deployment facts attachable</a:t>
            </a:r>
          </a:p>
          <a:p>
            <a:pPr algn="l"/>
            <a:r>
              <a:rPr sz="1200" b="0">
                <a:solidFill>
                  <a:srgbClr val="1F2933"/>
                </a:solidFill>
                <a:latin typeface="Calibri"/>
              </a:rPr>
              <a:t>• Every plan has an explicit config &amp; deployment impact section — no surprises late</a:t>
            </a:r>
          </a:p>
          <a:p>
            <a:pPr algn="l"/>
            <a:r>
              <a:rPr sz="1200" b="0">
                <a:solidFill>
                  <a:srgbClr val="1F2933"/>
                </a:solidFill>
                <a:latin typeface="Calibri"/>
              </a:rPr>
              <a:t>• Rollback notes are part of every plan by default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212080"/>
            <a:ext cx="11201400" cy="1051560"/>
          </a:xfrm>
          <a:prstGeom prst="roundRect">
            <a:avLst>
              <a:gd name="adj" fmla="val 6000"/>
            </a:avLst>
          </a:prstGeom>
          <a:solidFill>
            <a:srgbClr val="E3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/>
            <a:r>
              <a:rPr sz="1400" b="1">
                <a:solidFill>
                  <a:srgbClr val="0A467E"/>
                </a:solidFill>
                <a:latin typeface="Calibri"/>
              </a:rPr>
              <a:t>No process change: </a:t>
            </a:r>
            <a:r>
              <a:rPr sz="1400" b="0">
                <a:solidFill>
                  <a:srgbClr val="1F2933"/>
                </a:solidFill>
                <a:latin typeface="Calibri"/>
              </a:rPr>
              <a:t>squads keep their boards, their MR reviews and their definition of done. The packs and the plan template slot into how we already work — they just make the AI in the loop actually useful.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A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502920" cy="82296"/>
          </a:xfrm>
          <a:prstGeom prst="rect">
            <a:avLst/>
          </a:prstGeom>
          <a:solidFill>
            <a:srgbClr val="0E6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E63B0"/>
                </a:solidFill>
                <a:latin typeface="Calibri"/>
              </a:rPr>
              <a:t>OUR TEAM</a:t>
            </a:r>
          </a:p>
          <a:p>
            <a:pPr algn="l"/>
            <a:r>
              <a:rPr sz="3000" b="1">
                <a:solidFill>
                  <a:srgbClr val="1F2933"/>
                </a:solidFill>
                <a:latin typeface="Calibri"/>
              </a:rPr>
              <a:t>How it works across our squads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1965960" cy="19659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0E6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300" b="1">
                <a:solidFill>
                  <a:srgbClr val="0E63B0"/>
                </a:solidFill>
                <a:latin typeface="Calibri"/>
              </a:rPr>
              <a:t>Delivery squad 1</a:t>
            </a:r>
          </a:p>
          <a:p>
            <a:pPr algn="l"/>
            <a:r>
              <a:rPr sz="1050" b="0">
                <a:solidFill>
                  <a:srgbClr val="1F2933"/>
                </a:solidFill>
                <a:latin typeface="Calibri"/>
              </a:rPr>
              <a:t>Uses packs + plan template for feature work on its services; tester &amp; devops work from the same plan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70048" y="1691640"/>
            <a:ext cx="1965960" cy="19659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0E6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300" b="1">
                <a:solidFill>
                  <a:srgbClr val="0E63B0"/>
                </a:solidFill>
                <a:latin typeface="Calibri"/>
              </a:rPr>
              <a:t>Delivery squad 2</a:t>
            </a:r>
          </a:p>
          <a:p>
            <a:pPr algn="l"/>
            <a:r>
              <a:rPr sz="1050" b="0">
                <a:solidFill>
                  <a:srgbClr val="1F2933"/>
                </a:solidFill>
                <a:latin typeface="Calibri"/>
              </a:rPr>
              <a:t>Uses packs + plan template for feature work on its services; tester &amp; devops work from the same plan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91456" y="1691640"/>
            <a:ext cx="1965960" cy="19659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0E6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300" b="1">
                <a:solidFill>
                  <a:srgbClr val="0E63B0"/>
                </a:solidFill>
                <a:latin typeface="Calibri"/>
              </a:rPr>
              <a:t>Delivery squad 3</a:t>
            </a:r>
          </a:p>
          <a:p>
            <a:pPr algn="l"/>
            <a:r>
              <a:rPr sz="1050" b="0">
                <a:solidFill>
                  <a:srgbClr val="1F2933"/>
                </a:solidFill>
                <a:latin typeface="Calibri"/>
              </a:rPr>
              <a:t>Uses packs + plan template for feature work on its services; tester &amp; devops work from the same plan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12864" y="1691640"/>
            <a:ext cx="1965960" cy="19659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0E6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300" b="1">
                <a:solidFill>
                  <a:srgbClr val="0E63B0"/>
                </a:solidFill>
                <a:latin typeface="Calibri"/>
              </a:rPr>
              <a:t>Delivery squad 4</a:t>
            </a:r>
          </a:p>
          <a:p>
            <a:pPr algn="l"/>
            <a:r>
              <a:rPr sz="1050" b="0">
                <a:solidFill>
                  <a:srgbClr val="1F2933"/>
                </a:solidFill>
                <a:latin typeface="Calibri"/>
              </a:rPr>
              <a:t>Uses packs + plan template for feature work on its services; tester &amp; devops work from the same plan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89720" y="1691640"/>
            <a:ext cx="2560320" cy="19659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300" b="1">
                <a:solidFill>
                  <a:srgbClr val="1E7A45"/>
                </a:solidFill>
                <a:latin typeface="Calibri"/>
              </a:rPr>
              <a:t>Release squad</a:t>
            </a:r>
          </a:p>
          <a:p>
            <a:pPr algn="l"/>
            <a:r>
              <a:rPr sz="1050" b="0">
                <a:solidFill>
                  <a:srgbClr val="1F2933"/>
                </a:solidFill>
                <a:latin typeface="Calibri"/>
              </a:rPr>
              <a:t>Reads the config &amp; deployment impact + rollback sections of every plan; DEPLOYMENT.md per service = one consistent release reference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886200"/>
            <a:ext cx="6858000" cy="23774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500" b="1">
                <a:solidFill>
                  <a:srgbClr val="0A467E"/>
                </a:solidFill>
                <a:latin typeface="Calibri"/>
              </a:rPr>
              <a:t>Getting there — three small steps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Calibri"/>
              </a:rPr>
              <a:t>1. Finish the Duo validation of the 5 generated packs (protocol ready)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Calibri"/>
              </a:rPr>
              <a:t>2. Pilot with ONE delivery squad on 1–2 of its services, a few sprints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Calibri"/>
              </a:rPr>
              <a:t>3. If the metrics hold, generate packs for the remaining squads' services;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Calibri"/>
              </a:rPr>
              <a:t>    regeneration becomes a routine, minutes-per-service task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3886200"/>
            <a:ext cx="4114800" cy="23774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500" b="1">
                <a:solidFill>
                  <a:srgbClr val="0A467E"/>
                </a:solidFill>
                <a:latin typeface="Calibri"/>
              </a:rPr>
              <a:t>Pilot success metrics</a:t>
            </a:r>
          </a:p>
          <a:p>
            <a:pPr algn="l"/>
            <a:r>
              <a:rPr sz="1200" b="0">
                <a:solidFill>
                  <a:srgbClr val="1F2933"/>
                </a:solidFill>
                <a:latin typeface="Calibri"/>
              </a:rPr>
              <a:t>• Packs load cleanly in Duo/Copilot</a:t>
            </a:r>
          </a:p>
          <a:p>
            <a:pPr algn="l"/>
            <a:r>
              <a:rPr sz="1200" b="0">
                <a:solidFill>
                  <a:srgbClr val="1F2933"/>
                </a:solidFill>
                <a:latin typeface="Calibri"/>
              </a:rPr>
              <a:t>• Squad survey: answers with vs without packs</a:t>
            </a:r>
          </a:p>
          <a:p>
            <a:pPr algn="l"/>
            <a:r>
              <a:rPr sz="1200" b="0">
                <a:solidFill>
                  <a:srgbClr val="1F2933"/>
                </a:solidFill>
                <a:latin typeface="Calibri"/>
              </a:rPr>
              <a:t>• Share of AI plans usable with minor edits</a:t>
            </a:r>
          </a:p>
          <a:p>
            <a:pPr algn="l"/>
            <a:r>
              <a:rPr sz="1200" b="0">
                <a:solidFill>
                  <a:srgbClr val="1F2933"/>
                </a:solidFill>
                <a:latin typeface="Calibri"/>
              </a:rPr>
              <a:t>• Time-to-first-usable-answer, before vs after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A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502920" cy="82296"/>
          </a:xfrm>
          <a:prstGeom prst="rect">
            <a:avLst/>
          </a:prstGeom>
          <a:solidFill>
            <a:srgbClr val="0E6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E63B0"/>
                </a:solidFill>
                <a:latin typeface="Calibri"/>
              </a:rPr>
              <a:t>THE ASK</a:t>
            </a:r>
          </a:p>
          <a:p>
            <a:pPr algn="l"/>
            <a:r>
              <a:rPr sz="3000" b="1">
                <a:solidFill>
                  <a:srgbClr val="1F2933"/>
                </a:solidFill>
                <a:latin typeface="Calibri"/>
              </a:rPr>
              <a:t>What I'm asking for today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0E6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600" b="1">
                <a:solidFill>
                  <a:srgbClr val="0E63B0"/>
                </a:solidFill>
                <a:latin typeface="Calibri"/>
              </a:rPr>
              <a:t>Finish the validation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Calibri"/>
              </a:rPr>
              <a:t>Time to run the Duo sessions on the 5 generated packs and pick the winning prompt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78308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0E6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600" b="1">
                <a:solidFill>
                  <a:srgbClr val="0E63B0"/>
                </a:solidFill>
                <a:latin typeface="Calibri"/>
              </a:rPr>
              <a:t>Time-box for licensed devs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Calibri"/>
              </a:rPr>
              <a:t>A few hours of Claude Code time to re-run the winner fresh and generate the first real pack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7472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0E6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600" b="1">
                <a:solidFill>
                  <a:srgbClr val="0E63B0"/>
                </a:solidFill>
                <a:latin typeface="Calibri"/>
              </a:rPr>
              <a:t>Nominate a pilot squad + service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Calibri"/>
              </a:rPr>
              <a:t>One delivery squad and 1–2 of its Spring Boot services to pilot with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347472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0E6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600" b="1">
                <a:solidFill>
                  <a:srgbClr val="0E63B0"/>
                </a:solidFill>
                <a:latin typeface="Calibri"/>
              </a:rPr>
              <a:t>Squad commitment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Calibri"/>
              </a:rPr>
              <a:t>The pilot squad agrees to use the packs on real tasks and give honest feedback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440680"/>
            <a:ext cx="11201400" cy="914400"/>
          </a:xfrm>
          <a:prstGeom prst="roundRect">
            <a:avLst>
              <a:gd name="adj" fmla="val 6000"/>
            </a:avLst>
          </a:prstGeom>
          <a:solidFill>
            <a:srgbClr val="E3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/>
            <a:r>
              <a:rPr sz="1500" b="1">
                <a:solidFill>
                  <a:srgbClr val="0A467E"/>
                </a:solidFill>
                <a:latin typeface="Calibri"/>
              </a:rPr>
              <a:t>If the pilot doesn't prove itself within a few sprints, we stop — the only sunk cost is the validation time, and we keep the generated documentation either way.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A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4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•  A few Claude Code licences can lift the whole team: generate context packs once, reuse them everywhere.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•  Duo and Copilot become service-aware assistants instead of generic chatbots — with zero new tools or data exposure.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•  Developers stay in control: standardised plans, manual apply, normal MR review.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•  A short pilot with one delivery squad tells us if it works — measured, time-boxed, and it slots into how our squads already operate.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EC9EE"/>
                </a:solidFill>
                <a:latin typeface="Calibri"/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