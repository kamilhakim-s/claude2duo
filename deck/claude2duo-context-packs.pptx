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6AB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EC9EE"/>
                </a:solidFill>
                <a:latin typeface="Calibri"/>
              </a:rPr>
              <a:t>CONTEXT PACKS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Scaling AI-assisted development
beyond our Claude Code licenses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5E5F4"/>
                </a:solidFill>
                <a:latin typeface="Calibri"/>
              </a:rPr>
              <a:t>Using Claude Code to make GitLab Duo and Microsoft Copilot dramatically more effective for the whole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C4DC"/>
                </a:solidFill>
                <a:latin typeface="Calibri"/>
              </a:rPr>
              <a:t>Proposal to the team  ·  20–30 min  ·  &lt;presenter name&gt;  ·  &lt;date&gt;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THE PROBLEM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A two-tier AI developer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600" b="1">
                <a:solidFill>
                  <a:srgbClr val="0E63B0"/>
                </a:solidFill>
                <a:latin typeface="Calibri"/>
              </a:rPr>
              <a:t>Tier 1 — a few developers</a:t>
            </a:r>
          </a:p>
          <a:p>
            <a:pPr algn="l"/>
            <a:r>
              <a:rPr sz="2000" b="1">
                <a:solidFill>
                  <a:srgbClr val="1F2933"/>
                </a:solidFill>
                <a:latin typeface="Calibri"/>
              </a:rPr>
              <a:t>Claude Code (agentic)</a:t>
            </a:r>
          </a:p>
          <a:p>
            <a:pPr algn="l"/>
            <a:r>
              <a:rPr sz="1400" b="0">
                <a:solidFill>
                  <a:srgbClr val="1F2933"/>
                </a:solidFill>
                <a:latin typeface="Calibri"/>
              </a:rPr>
              <a:t>• Reads the whole codebase systematically</a:t>
            </a:r>
          </a:p>
          <a:p>
            <a:pPr algn="l"/>
            <a:r>
              <a:rPr sz="1400" b="0">
                <a:solidFill>
                  <a:srgbClr val="1F2933"/>
                </a:solidFill>
                <a:latin typeface="Calibri"/>
              </a:rPr>
              <a:t>• Plans and executes multi-step changes</a:t>
            </a:r>
          </a:p>
          <a:p>
            <a:pPr algn="l"/>
            <a:r>
              <a:rPr sz="1400" b="0">
                <a:solidFill>
                  <a:srgbClr val="1F2933"/>
                </a:solidFill>
                <a:latin typeface="Calibri"/>
              </a:rPr>
              <a:t>• Limited seats: licence cap + security review means most of the team can't get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4592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600" b="1">
                <a:solidFill>
                  <a:srgbClr val="B45E12"/>
                </a:solidFill>
                <a:latin typeface="Calibri"/>
              </a:rPr>
              <a:t>Tier 2 — everyone else</a:t>
            </a:r>
          </a:p>
          <a:p>
            <a:pPr algn="l"/>
            <a:r>
              <a:rPr sz="2000" b="1">
                <a:solidFill>
                  <a:srgbClr val="1F2933"/>
                </a:solidFill>
                <a:latin typeface="Calibri"/>
              </a:rPr>
              <a:t>GitLab Duo &amp; Microsoft Copilot (chat)</a:t>
            </a:r>
          </a:p>
          <a:p>
            <a:pPr algn="l"/>
            <a:r>
              <a:rPr sz="1400" b="0">
                <a:solidFill>
                  <a:srgbClr val="1F2933"/>
                </a:solidFill>
                <a:latin typeface="Calibri"/>
              </a:rPr>
              <a:t>• Chat-mode only, with a hard context cap</a:t>
            </a:r>
          </a:p>
          <a:p>
            <a:pPr algn="l"/>
            <a:r>
              <a:rPr sz="1400" b="0">
                <a:solidFill>
                  <a:srgbClr val="1F2933"/>
                </a:solidFill>
                <a:latin typeface="Calibri"/>
              </a:rPr>
              <a:t>• Sees fragments of code, not the service as a system</a:t>
            </a:r>
          </a:p>
          <a:p>
            <a:pPr algn="l"/>
            <a:r>
              <a:rPr sz="1400" b="0">
                <a:solidFill>
                  <a:srgbClr val="1F2933"/>
                </a:solidFill>
                <a:latin typeface="Calibri"/>
              </a:rPr>
              <a:t>• Every fresh session starts from zero — the developer re-explains the service each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92040"/>
            <a:ext cx="11201400" cy="1371600"/>
          </a:xfrm>
          <a:prstGeom prst="roundRect">
            <a:avLst>
              <a:gd name="adj" fmla="val 6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600" b="1">
                <a:solidFill>
                  <a:srgbClr val="0A467E"/>
                </a:solidFill>
                <a:latin typeface="Calibri"/>
              </a:rPr>
              <a:t>The gap: </a:t>
            </a:r>
            <a:r>
              <a:rPr sz="1600" b="0">
                <a:solidFill>
                  <a:srgbClr val="1F2933"/>
                </a:solidFill>
                <a:latin typeface="Calibri"/>
              </a:rPr>
              <a:t>our chat AIs are not weak models — they are strong models that are starved of context. They give generic answers to questions about very specific Spring Boot services, so most developers get a fraction of the value we are already paying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CURRENT TOOLING LANDSCAPE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What each tool can and cannot do today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20139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739"/>
                <a:gridCol w="2846257"/>
                <a:gridCol w="3029886"/>
                <a:gridCol w="3213516"/>
              </a:tblGrid>
              <a:tr h="509451"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0E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Claude Code</a:t>
                      </a:r>
                    </a:p>
                  </a:txBody>
                  <a:tcPr marL="73152" marR="73152" marT="36576" marB="36576">
                    <a:solidFill>
                      <a:srgbClr val="0E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GitLab Duo Chat</a:t>
                      </a:r>
                    </a:p>
                  </a:txBody>
                  <a:tcPr marL="73152" marR="73152" marT="36576" marB="36576">
                    <a:solidFill>
                      <a:srgbClr val="0E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Microsoft Copilot Chat</a:t>
                      </a:r>
                    </a:p>
                  </a:txBody>
                  <a:tcPr marL="73152" marR="73152" marT="36576" marB="36576">
                    <a:solidFill>
                      <a:srgbClr val="0E63B0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Availability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Few licensed developers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Whole team (IntelliJ / VS Code)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Whole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Agentic — plans, reads, edits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Chat, IDE-integrated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Chat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Code access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Entire repository, systematic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Open files / snippets in IDE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Attached files, incl. images &amp; many formats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Context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Very large, managed automatically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Capped per session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Capped per session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Systematic multi-step 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No — needs hand-fed context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No — needs hand-fed context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Today's blocker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Licence cap &amp; security scope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Doesn't know the service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Doesn't know the service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532120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500" b="1">
                <a:solidFill>
                  <a:srgbClr val="0A467E"/>
                </a:solidFill>
                <a:latin typeface="Calibri"/>
              </a:rPr>
              <a:t>Observation: </a:t>
            </a:r>
            <a:r>
              <a:rPr sz="1500" b="0">
                <a:solidFill>
                  <a:srgbClr val="1F2933"/>
                </a:solidFill>
                <a:latin typeface="Calibri"/>
              </a:rPr>
              <a:t>Duo and Copilot both accept attached files. If the right context arrived pre-packaged, the “doesn't know the service” blocker disappears.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PROPOSAL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The idea in one picture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020824" cy="2286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E63B0"/>
                </a:solidFill>
                <a:latin typeface="Calibri"/>
              </a:rPr>
              <a:t>1 · Generate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Licensed devs run Claude Code with a standard prompt over each microservice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51176" y="2834640"/>
            <a:ext cx="329184" cy="256032"/>
          </a:xfrm>
          <a:prstGeom prst="rightArrow">
            <a:avLst/>
          </a:prstGeom>
          <a:solidFill>
            <a:srgbClr val="0E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62072" y="1828800"/>
            <a:ext cx="2020824" cy="2286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E63B0"/>
                </a:solidFill>
                <a:latin typeface="Calibri"/>
              </a:rPr>
              <a:t>2 · Commit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Context pack (a small set of .md files) is committed to the service repo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64608" y="2834640"/>
            <a:ext cx="329184" cy="256032"/>
          </a:xfrm>
          <a:prstGeom prst="rightArrow">
            <a:avLst/>
          </a:prstGeom>
          <a:solidFill>
            <a:srgbClr val="0E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75504" y="1828800"/>
            <a:ext cx="2020824" cy="2286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E63B0"/>
                </a:solidFill>
                <a:latin typeface="Calibri"/>
              </a:rPr>
              <a:t>3 · Attach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Any developer attaches the pack to a fresh Duo or Copilot session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78040" y="2834640"/>
            <a:ext cx="329184" cy="256032"/>
          </a:xfrm>
          <a:prstGeom prst="rightArrow">
            <a:avLst/>
          </a:prstGeom>
          <a:solidFill>
            <a:srgbClr val="0E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88936" y="1828800"/>
            <a:ext cx="2020824" cy="2286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E63B0"/>
                </a:solidFill>
                <a:latin typeface="Calibri"/>
              </a:rPr>
              <a:t>4 · Plan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The chat AI fills in our standard plan template for the feature / change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91472" y="2834640"/>
            <a:ext cx="329184" cy="256032"/>
          </a:xfrm>
          <a:prstGeom prst="rightArrow">
            <a:avLst/>
          </a:prstGeom>
          <a:solidFill>
            <a:srgbClr val="0E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02368" y="1828800"/>
            <a:ext cx="2020824" cy="2286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1E7A45"/>
                </a:solidFill>
                <a:latin typeface="Calibri"/>
              </a:rPr>
              <a:t>5 · Apply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Developer reviews and applies the changes manually, as normal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11201400" cy="1737360"/>
          </a:xfrm>
          <a:prstGeom prst="roundRect">
            <a:avLst>
              <a:gd name="adj" fmla="val 6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600" b="1">
                <a:solidFill>
                  <a:srgbClr val="0A467E"/>
                </a:solidFill>
                <a:latin typeface="Calibri"/>
              </a:rPr>
              <a:t>Why this works</a:t>
            </a:r>
          </a:p>
          <a:p>
            <a:pPr algn="l"/>
            <a:r>
              <a:rPr sz="1400" b="0">
                <a:solidFill>
                  <a:srgbClr val="1F2933"/>
                </a:solidFill>
                <a:latin typeface="Calibri"/>
              </a:rPr>
              <a:t>Claude Code does the expensive, systematic part once per service — understanding the whole codebase. The result is distilled into files small enough for Duo / Copilot context windows. Every developer then starts each chat session with the AI already “knowing” the service, and code changes stay fully under developer control.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PROPOSAL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What's in a context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7A"/>
                </a:solidFill>
                <a:latin typeface="Calibri"/>
              </a:rPr>
              <a:t>One folder of Markdown files per microservice — each file sized to fit chat attachment and context limits.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300" b="1">
                <a:solidFill>
                  <a:srgbClr val="0A467E"/>
                </a:solidFill>
                <a:latin typeface="Calibri"/>
              </a:rPr>
              <a:t>SERVICE-OVERVIEW.md</a:t>
            </a:r>
          </a:p>
          <a:p>
            <a:pPr algn="l"/>
            <a:r>
              <a:rPr sz="1150" b="0">
                <a:solidFill>
                  <a:srgbClr val="1F2933"/>
                </a:solidFill>
                <a:latin typeface="Calibri"/>
              </a:rPr>
              <a:t>Purpose, responsibilities, owners, key business 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5740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300" b="1">
                <a:solidFill>
                  <a:srgbClr val="0A467E"/>
                </a:solidFill>
                <a:latin typeface="Calibri"/>
              </a:rPr>
              <a:t>ARCHITECTURE.md</a:t>
            </a:r>
          </a:p>
          <a:p>
            <a:pPr algn="l"/>
            <a:r>
              <a:rPr sz="1150" b="0">
                <a:solidFill>
                  <a:srgbClr val="1F2933"/>
                </a:solidFill>
                <a:latin typeface="Calibri"/>
              </a:rPr>
              <a:t>Module layout, dependency map, upstream / downstream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05740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300" b="1">
                <a:solidFill>
                  <a:srgbClr val="0A467E"/>
                </a:solidFill>
                <a:latin typeface="Calibri"/>
              </a:rPr>
              <a:t>API-CONTRACTS.md</a:t>
            </a:r>
          </a:p>
          <a:p>
            <a:pPr algn="l"/>
            <a:r>
              <a:rPr sz="1150" b="0">
                <a:solidFill>
                  <a:srgbClr val="1F2933"/>
                </a:solidFill>
                <a:latin typeface="Calibri"/>
              </a:rPr>
              <a:t>REST endpoints, request/response shapes, error conventions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300" b="1">
                <a:solidFill>
                  <a:srgbClr val="0A467E"/>
                </a:solidFill>
                <a:latin typeface="Calibri"/>
              </a:rPr>
              <a:t>DATA-MODEL.md</a:t>
            </a:r>
          </a:p>
          <a:p>
            <a:pPr algn="l"/>
            <a:r>
              <a:rPr sz="1150" b="0">
                <a:solidFill>
                  <a:srgbClr val="1F2933"/>
                </a:solidFill>
                <a:latin typeface="Calibri"/>
              </a:rPr>
              <a:t>Entities, relationships, key tables and migrations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38328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300" b="1">
                <a:solidFill>
                  <a:srgbClr val="0A467E"/>
                </a:solidFill>
                <a:latin typeface="Calibri"/>
              </a:rPr>
              <a:t>CONVENTIONS.md</a:t>
            </a:r>
          </a:p>
          <a:p>
            <a:pPr algn="l"/>
            <a:r>
              <a:rPr sz="1150" b="0">
                <a:solidFill>
                  <a:srgbClr val="1F2933"/>
                </a:solidFill>
                <a:latin typeface="Calibri"/>
              </a:rPr>
              <a:t>Code patterns, naming, error handling, how we write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38328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300" b="1">
                <a:solidFill>
                  <a:srgbClr val="0A467E"/>
                </a:solidFill>
                <a:latin typeface="Calibri"/>
              </a:rPr>
              <a:t>CONFIG-PROFILES.md</a:t>
            </a:r>
          </a:p>
          <a:p>
            <a:pPr algn="l"/>
            <a:r>
              <a:rPr sz="1150" b="0">
                <a:solidFill>
                  <a:srgbClr val="1F2933"/>
                </a:solidFill>
                <a:latin typeface="Calibri"/>
              </a:rPr>
              <a:t>Spring Boot config, profiles, feature flags, secrets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0916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300" b="1">
                <a:solidFill>
                  <a:srgbClr val="0A467E"/>
                </a:solidFill>
                <a:latin typeface="Calibri"/>
              </a:rPr>
              <a:t>DEPLOYMENT.md</a:t>
            </a:r>
          </a:p>
          <a:p>
            <a:pPr algn="l"/>
            <a:r>
              <a:rPr sz="1150" b="0">
                <a:solidFill>
                  <a:srgbClr val="1F2933"/>
                </a:solidFill>
                <a:latin typeface="Calibri"/>
              </a:rPr>
              <a:t>OpenShift topology, routes, resources, pipelines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70916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300" b="1">
                <a:solidFill>
                  <a:srgbClr val="0A467E"/>
                </a:solidFill>
                <a:latin typeface="Calibri"/>
              </a:rPr>
              <a:t>TESTING.md</a:t>
            </a:r>
          </a:p>
          <a:p>
            <a:pPr algn="l"/>
            <a:r>
              <a:rPr sz="1150" b="0">
                <a:solidFill>
                  <a:srgbClr val="1F2933"/>
                </a:solidFill>
                <a:latin typeface="Calibri"/>
              </a:rPr>
              <a:t>Test layers, fixtures, how to add and run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709160"/>
            <a:ext cx="3611880" cy="1143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300" b="1">
                <a:solidFill>
                  <a:srgbClr val="0A467E"/>
                </a:solidFill>
                <a:latin typeface="Calibri"/>
              </a:rPr>
              <a:t>GOTCHAS.md</a:t>
            </a:r>
          </a:p>
          <a:p>
            <a:pPr algn="l"/>
            <a:r>
              <a:rPr sz="1150" b="0">
                <a:solidFill>
                  <a:srgbClr val="1F2933"/>
                </a:solidFill>
                <a:latin typeface="Calibri"/>
              </a:rPr>
              <a:t>Known pitfalls, tech debt, sharp edges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6035040"/>
            <a:ext cx="11201400" cy="594360"/>
          </a:xfrm>
          <a:prstGeom prst="roundRect">
            <a:avLst>
              <a:gd name="adj" fmla="val 6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Side effect: this is living, always-regenerable documentation — valuable even without any 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PROPOSAL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The standardised plan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7A"/>
                </a:solidFill>
                <a:latin typeface="Calibri"/>
              </a:rPr>
              <a:t>A fixed structure the chat AI must fill in for any feature or change — so output is predictable, reviewable and easy to apply by hand.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1 · Goal &amp; scope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What we're changing and explicitly what we're not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14884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2 · Affected files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Exact files to touch, and why each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3 · Step-by-step changes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Ordered steps with code snippets per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29184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4 · Test plan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Unit / integration tests to add or update, how to run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3484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5 · Config &amp; deployment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Spring profiles, OpenShift manifests, flags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43484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6 · Rollback &amp; risks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How to revert, what could break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1500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400" b="0">
                <a:solidFill>
                  <a:srgbClr val="1F2933"/>
                </a:solidFill>
                <a:latin typeface="Calibri"/>
              </a:rPr>
              <a:t>The developer copies the filled-in plan out of Duo / Copilot and applies it manually — human review is built into every step. No AI writes to our repos except through a developer.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DEVELOPER WORKFLOW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A developer's day, before and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B45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B45E12"/>
                </a:solidFill>
                <a:latin typeface="Calibri"/>
              </a:rPr>
              <a:t>Before — Duo with no context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• “Add an endpoint to service X” → generic Spring Boot boilerplate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• Dev pastes snippets file-by-file to explain the service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• Hits the context cap, answers drift, session restarted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• Result often ignores our conventions and config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1E7A45"/>
                </a:solidFill>
                <a:latin typeface="Calibri"/>
              </a:rPr>
              <a:t>After — Duo with a context pack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• Dev attaches the pack + plan template to a fresh session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• AI answers in terms of our actual endpoints, entities, conventions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• Produces a filled-in plan with concrete files and snippets</a:t>
            </a:r>
          </a:p>
          <a:p>
            <a:pPr algn="l"/>
            <a:r>
              <a:rPr sz="1250" b="0">
                <a:solidFill>
                  <a:srgbClr val="1F2933"/>
                </a:solidFill>
                <a:latin typeface="Calibri"/>
              </a:rPr>
              <a:t>• Dev reviews, applies manually, raises MR as usual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60520"/>
            <a:ext cx="11201400" cy="2148840"/>
          </a:xfrm>
          <a:prstGeom prst="roundRect">
            <a:avLst>
              <a:gd name="adj" fmla="val 5000"/>
            </a:avLst>
          </a:prstGeom>
          <a:solidFill>
            <a:srgbClr val="FDF3E3"/>
          </a:solidFill>
          <a:ln w="19050">
            <a:solidFill>
              <a:srgbClr val="D9A44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/>
            <a:r>
              <a:rPr sz="1200" b="1">
                <a:solidFill>
                  <a:srgbClr val="B45E12"/>
                </a:solidFill>
                <a:latin typeface="Calibri"/>
              </a:rPr>
              <a:t>[ DEMO ASSET — TO BE CAPTURED ]</a:t>
            </a:r>
          </a:p>
          <a:p>
            <a:pPr algn="ctr"/>
            <a:r>
              <a:rPr sz="1600" b="1">
                <a:solidFill>
                  <a:srgbClr val="1F2933"/>
                </a:solidFill>
                <a:latin typeface="Calibri"/>
              </a:rPr>
              <a:t>Before / after session comparison</a:t>
            </a:r>
          </a:p>
          <a:p>
            <a:pPr algn="ctr"/>
            <a:r>
              <a:rPr sz="1200" b="0">
                <a:solidFill>
                  <a:srgbClr val="5A6B7A"/>
                </a:solidFill>
                <a:latin typeface="Calibri"/>
              </a:rPr>
              <a:t>Side-by-side screenshots of the same task in GitLab Duo: one fresh session with no context, one with the context pack attached — same prompt, visibly different quality of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SAMPLE CONTEXT PACK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What a real pack looks like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6766560" cy="4663440"/>
          </a:xfrm>
          <a:prstGeom prst="roundRect">
            <a:avLst>
              <a:gd name="adj" fmla="val 5000"/>
            </a:avLst>
          </a:prstGeom>
          <a:solidFill>
            <a:srgbClr val="FDF3E3"/>
          </a:solidFill>
          <a:ln w="19050">
            <a:solidFill>
              <a:srgbClr val="D9A44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/>
            <a:r>
              <a:rPr sz="1200" b="1">
                <a:solidFill>
                  <a:srgbClr val="B45E12"/>
                </a:solidFill>
                <a:latin typeface="Calibri"/>
              </a:rPr>
              <a:t>[ DEMO ASSET — TO BE CAPTURED ]</a:t>
            </a:r>
          </a:p>
          <a:p>
            <a:pPr algn="ctr"/>
            <a:r>
              <a:rPr sz="1600" b="1">
                <a:solidFill>
                  <a:srgbClr val="1F2933"/>
                </a:solidFill>
                <a:latin typeface="Calibri"/>
              </a:rPr>
              <a:t>Excerpt of a generated context pack</a:t>
            </a:r>
          </a:p>
          <a:p>
            <a:pPr algn="ctr"/>
            <a:r>
              <a:rPr sz="1200" b="0">
                <a:solidFill>
                  <a:srgbClr val="5A6B7A"/>
                </a:solidFill>
                <a:latin typeface="Calibri"/>
              </a:rPr>
              <a:t>1–2 pages of the actual ARCHITECTURE.md and API-CONTRACTS.md generated by Claude Code for the pilot service, showing the level of detail and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00200"/>
            <a:ext cx="4251960" cy="2240280"/>
          </a:xfrm>
          <a:prstGeom prst="roundRect">
            <a:avLst>
              <a:gd name="adj" fmla="val 5000"/>
            </a:avLst>
          </a:prstGeom>
          <a:solidFill>
            <a:srgbClr val="FDF3E3"/>
          </a:solidFill>
          <a:ln w="19050">
            <a:solidFill>
              <a:srgbClr val="D9A44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/>
            <a:r>
              <a:rPr sz="1200" b="1">
                <a:solidFill>
                  <a:srgbClr val="B45E12"/>
                </a:solidFill>
                <a:latin typeface="Calibri"/>
              </a:rPr>
              <a:t>[ DEMO ASSET — TO BE CAPTURED ]</a:t>
            </a:r>
          </a:p>
          <a:p>
            <a:pPr algn="ctr"/>
            <a:r>
              <a:rPr sz="1600" b="1">
                <a:solidFill>
                  <a:srgbClr val="1F2933"/>
                </a:solidFill>
                <a:latin typeface="Calibri"/>
              </a:rPr>
              <a:t>Pack loaded in GitLab Duo</a:t>
            </a:r>
          </a:p>
          <a:p>
            <a:pPr algn="ctr"/>
            <a:r>
              <a:rPr sz="1200" b="0">
                <a:solidFill>
                  <a:srgbClr val="5A6B7A"/>
                </a:solidFill>
                <a:latin typeface="Calibri"/>
              </a:rPr>
              <a:t>Screenshot: files attached in a Duo chat session in IntelliJ / VS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023360"/>
            <a:ext cx="4251960" cy="2240280"/>
          </a:xfrm>
          <a:prstGeom prst="roundRect">
            <a:avLst>
              <a:gd name="adj" fmla="val 5000"/>
            </a:avLst>
          </a:prstGeom>
          <a:solidFill>
            <a:srgbClr val="FDF3E3"/>
          </a:solidFill>
          <a:ln w="19050">
            <a:solidFill>
              <a:srgbClr val="D9A44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/>
            <a:r>
              <a:rPr sz="1200" b="1">
                <a:solidFill>
                  <a:srgbClr val="B45E12"/>
                </a:solidFill>
                <a:latin typeface="Calibri"/>
              </a:rPr>
              <a:t>[ DEMO ASSET — TO BE CAPTURED ]</a:t>
            </a:r>
          </a:p>
          <a:p>
            <a:pPr algn="ctr"/>
            <a:r>
              <a:rPr sz="1600" b="1">
                <a:solidFill>
                  <a:srgbClr val="1F2933"/>
                </a:solidFill>
                <a:latin typeface="Calibri"/>
              </a:rPr>
              <a:t>Pack loaded in Copilot</a:t>
            </a:r>
          </a:p>
          <a:p>
            <a:pPr algn="ctr"/>
            <a:r>
              <a:rPr sz="1200" b="0">
                <a:solidFill>
                  <a:srgbClr val="5A6B7A"/>
                </a:solidFill>
                <a:latin typeface="Calibri"/>
              </a:rPr>
              <a:t>Screenshot: same pack attached to a Microsoft Copilot chat session.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MAKING IT WORK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Finding the best generation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7A"/>
                </a:solidFill>
                <a:latin typeface="Calibri"/>
              </a:rPr>
              <a:t>We don't assume the first prompt is right. We run a short, structured trial-and-error loop per file type.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E63B0"/>
                </a:solidFill>
                <a:latin typeface="Calibri"/>
              </a:rPr>
              <a:t>Draft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2–3 candidate prompts per context file type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80" y="2697480"/>
            <a:ext cx="320040" cy="256032"/>
          </a:xfrm>
          <a:prstGeom prst="rightArrow">
            <a:avLst/>
          </a:prstGeom>
          <a:solidFill>
            <a:srgbClr val="0E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21488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E63B0"/>
                </a:solidFill>
                <a:latin typeface="Calibri"/>
              </a:rPr>
              <a:t>Generate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Run each prompt with Claude Code on the pilot service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80760" y="2697480"/>
            <a:ext cx="320040" cy="256032"/>
          </a:xfrm>
          <a:prstGeom prst="rightArrow">
            <a:avLst/>
          </a:prstGeom>
          <a:solidFill>
            <a:srgbClr val="0E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1488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E63B0"/>
                </a:solidFill>
                <a:latin typeface="Calibri"/>
              </a:rPr>
              <a:t>Score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Grade outputs against fixed criteria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006840" y="2697480"/>
            <a:ext cx="320040" cy="256032"/>
          </a:xfrm>
          <a:prstGeom prst="rightArrow">
            <a:avLst/>
          </a:prstGeom>
          <a:solidFill>
            <a:srgbClr val="0E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21488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E63B0"/>
                </a:solidFill>
                <a:latin typeface="Calibri"/>
              </a:rPr>
              <a:t>Refine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Keep the winner, fix its weaknesses, re-run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201400" cy="24688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A467E"/>
                </a:solidFill>
                <a:latin typeface="Calibri"/>
              </a:rPr>
              <a:t>Evaluation criteria (scored per candidate)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• Accuracy — does it match the real code? (spot-checked by the service's developers)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• Completeness — endpoints, entities, conventions all covered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• Size — fits Duo and Copilot attachment / context limits with room for a conversation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• Usefulness — does a Duo/Copilot session with this file answer service-specific questions correctly?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• Regenerability — same prompt on updated code produces a cleanly updated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VALIDATION TESTING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Proving the packs load and actually help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20139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01"/>
                <a:gridCol w="4039849"/>
                <a:gridCol w="4039849"/>
              </a:tblGrid>
              <a:tr h="5181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73152" marR="73152" marT="36576" marB="36576">
                    <a:solidFill>
                      <a:srgbClr val="0E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GitLab Duo (IntelliJ / VS Code)</a:t>
                      </a:r>
                    </a:p>
                  </a:txBody>
                  <a:tcPr marL="73152" marR="73152" marT="36576" marB="36576">
                    <a:solidFill>
                      <a:srgbClr val="0E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Microsoft Copilot</a:t>
                      </a:r>
                    </a:p>
                  </a:txBody>
                  <a:tcPr marL="73152" marR="73152" marT="36576" marB="36576">
                    <a:solidFill>
                      <a:srgbClr val="0E63B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Pack loads in a fresh session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Attach files, verify no truncation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Attach files, verify no truncation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Q&amp;A: service-specific questions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Answers cite real endpoints / entities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Answers cite real endpoints / entities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Plan template: small change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Produces correct filled-in plan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Produces correct filled-in plan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Plan template: new feature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Plan judged usable by service dev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Plan judged usable by service dev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Context headroom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Meaningful conversation still possible after attach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Meaningful conversation still possible after attach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074920"/>
            <a:ext cx="11201400" cy="1234440"/>
          </a:xfrm>
          <a:prstGeom prst="roundRect">
            <a:avLst>
              <a:gd name="adj" fmla="val 6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Acceptance bar: </a:t>
            </a:r>
            <a:r>
              <a:rPr sz="1400" b="0">
                <a:solidFill>
                  <a:srgbClr val="1F2933"/>
                </a:solidFill>
                <a:latin typeface="Calibri"/>
              </a:rPr>
              <a:t>every cell green on the pilot service before we scale out. Failures feed back into the prompt-refinement loop (e.g. split files that are too large, add missing sections).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MAKING IT WORK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Keeping packs fresh (and cheap to keep fresh)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Regeneration is one command — </a:t>
            </a:r>
            <a:r>
              <a:rPr sz="1350" b="0">
                <a:solidFill>
                  <a:srgbClr val="1F2933"/>
                </a:solidFill>
                <a:latin typeface="Calibri"/>
              </a:rPr>
              <a:t>Packs are generated, not hand-written. Refreshing a service is re-running the winning prompt — minutes, not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62072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Cadence — </a:t>
            </a:r>
            <a:r>
              <a:rPr sz="1350" b="0">
                <a:solidFill>
                  <a:srgbClr val="1F2933"/>
                </a:solidFill>
                <a:latin typeface="Calibri"/>
              </a:rPr>
              <a:t>Regenerate once per PI as a routine enabler task, plus ad-hoc after significant merges to a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32504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Ownership — </a:t>
            </a:r>
            <a:r>
              <a:rPr sz="1350" b="0">
                <a:solidFill>
                  <a:srgbClr val="1F2933"/>
                </a:solidFill>
                <a:latin typeface="Calibri"/>
              </a:rPr>
              <a:t>The licensed Claude Code developers own generation; each service team spot-checks its own pack.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02936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B45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Drift guardrails — </a:t>
            </a:r>
            <a:r>
              <a:rPr sz="1350" b="0">
                <a:solidFill>
                  <a:srgbClr val="1F2933"/>
                </a:solidFill>
                <a:latin typeface="Calibri"/>
              </a:rPr>
              <a:t>Every pack carries a generated-on date + commit hash. Optional CI reminder when a service changes heavily since last generation.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MAKING IT WORK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Security &amp; compliance posture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No new data exposure — </a:t>
            </a:r>
            <a:r>
              <a:rPr sz="1350" b="0">
                <a:solidFill>
                  <a:srgbClr val="1F2933"/>
                </a:solidFill>
                <a:latin typeface="Calibri"/>
              </a:rPr>
              <a:t>Packs describe code that Duo and Copilot can already access through their approved integrations. We change the form of the context, not its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62072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No new tools, no new licences — </a:t>
            </a:r>
            <a:r>
              <a:rPr sz="1350" b="0">
                <a:solidFill>
                  <a:srgbClr val="1F2933"/>
                </a:solidFill>
                <a:latin typeface="Calibri"/>
              </a:rPr>
              <a:t>Everything runs on tooling that is already procured and security-approved: Claude Code for the few, Duo / Copilot for the many.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32504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Human in the loop by design — </a:t>
            </a:r>
            <a:r>
              <a:rPr sz="1350" b="0">
                <a:solidFill>
                  <a:srgbClr val="1F2933"/>
                </a:solidFill>
                <a:latin typeface="Calibri"/>
              </a:rPr>
              <a:t>Chat AIs only produce plans and snippets; a developer applies every change manually and it goes through normal MR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02936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B45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400" b="1">
                <a:solidFill>
                  <a:srgbClr val="0A467E"/>
                </a:solidFill>
                <a:latin typeface="Calibri"/>
              </a:rPr>
              <a:t>Content hygiene — </a:t>
            </a:r>
            <a:r>
              <a:rPr sz="1350" b="0">
                <a:solidFill>
                  <a:srgbClr val="1F2933"/>
                </a:solidFill>
                <a:latin typeface="Calibri"/>
              </a:rPr>
              <a:t>Generation prompts explicitly exclude secrets, credentials, internal hostnames and personal data; packs are reviewed before first commit.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BENEFITS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What we 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A467E"/>
                </a:solidFill>
                <a:latin typeface="Calibri"/>
              </a:rPr>
              <a:t>Whole-team uplift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Every developer gets near-agentic AI help from the licences we already pay for — no new seats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78308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A467E"/>
                </a:solidFill>
                <a:latin typeface="Calibri"/>
              </a:rPr>
              <a:t>Faster onboarding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New joiners read the pack (or chat with it) instead of spelunking for weeks.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78308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A467E"/>
                </a:solidFill>
                <a:latin typeface="Calibri"/>
              </a:rPr>
              <a:t>Living documentation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Regenerable, always-current service docs as a permanent side effect.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8620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A467E"/>
                </a:solidFill>
                <a:latin typeface="Calibri"/>
              </a:rPr>
              <a:t>Better reviews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Standardised plans make AI-assisted changes predictable and easy to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88620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A467E"/>
                </a:solidFill>
                <a:latin typeface="Calibri"/>
              </a:rPr>
              <a:t>Compounding asset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Prompts and templates improve every iteration and apply to every new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88620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A467E"/>
                </a:solidFill>
                <a:latin typeface="Calibri"/>
              </a:rPr>
              <a:t>Low cost to try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A time-boxed spike by the licensed devs; no procurement, no platform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RISKS &amp; MITIGATIONS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Risks and how we handle them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20139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6219"/>
                <a:gridCol w="7345180"/>
              </a:tblGrid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36576" marB="36576">
                    <a:solidFill>
                      <a:srgbClr val="0E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36576" marB="36576">
                    <a:solidFill>
                      <a:srgbClr val="0E63B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Packs go stale and mislead the 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Per-PI regeneration cadence; generated-on date + commit hash in every pack; regeneration is one command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Over-reliance on AI-produced plans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Plan template forces explicit test &amp; rollback sections; manual apply + normal MR review remain mandatory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Packs too large for chat context caps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Size is an explicit evaluation criterion; split or trim files per tool limits during the spike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Maintenance burden on licensed devs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Generation is automated; effort is minutes per service per PI, tracked as enabler 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F2933"/>
                          </a:solidFill>
                          <a:latin typeface="Calibri"/>
                        </a:rPr>
                        <a:t>Quality varies across services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Standard prompts + acceptance bar per pack; service team spot-check before first commit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ROLLOUT PLAN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Rollout, the SAFe 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400" b="1">
                <a:solidFill>
                  <a:srgbClr val="0E63B0"/>
                </a:solidFill>
                <a:latin typeface="Calibri"/>
              </a:rPr>
              <a:t>Spike — next iteration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Prompt experiments on 1 pilot service; validate pack loads in Duo &amp; Copilot; pick winning prompts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54680" y="2834640"/>
            <a:ext cx="320040" cy="256032"/>
          </a:xfrm>
          <a:prstGeom prst="rightArrow">
            <a:avLst/>
          </a:prstGeom>
          <a:solidFill>
            <a:srgbClr val="0E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78308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400" b="1">
                <a:solidFill>
                  <a:srgbClr val="0E63B0"/>
                </a:solidFill>
                <a:latin typeface="Calibri"/>
              </a:rPr>
              <a:t>Pilot — one PI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2–3 services; real feature work by non-licensed devs using packs + plan template; collect metrics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80760" y="2834640"/>
            <a:ext cx="320040" cy="256032"/>
          </a:xfrm>
          <a:prstGeom prst="rightArrow">
            <a:avLst/>
          </a:prstGeom>
          <a:solidFill>
            <a:srgbClr val="0E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78308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B45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400" b="1">
                <a:solidFill>
                  <a:srgbClr val="B45E12"/>
                </a:solidFill>
                <a:latin typeface="Calibri"/>
              </a:rPr>
              <a:t>Measure &amp; decide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Review metrics + dev feedback at PI boundary; go / adjust / stop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06840" y="2834640"/>
            <a:ext cx="320040" cy="256032"/>
          </a:xfrm>
          <a:prstGeom prst="rightArrow">
            <a:avLst/>
          </a:prstGeom>
          <a:solidFill>
            <a:srgbClr val="0E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400" b="1">
                <a:solidFill>
                  <a:srgbClr val="1E7A45"/>
                </a:solidFill>
                <a:latin typeface="Calibri"/>
              </a:rPr>
              <a:t>Scale</a:t>
            </a:r>
          </a:p>
          <a:p>
            <a:pPr algn="l"/>
            <a:r>
              <a:rPr sz="1200" b="0">
                <a:solidFill>
                  <a:srgbClr val="1F2933"/>
                </a:solidFill>
                <a:latin typeface="Calibri"/>
              </a:rPr>
              <a:t>Roll out to all services as enabler stories; per-PI regeneration becomes routine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201400" cy="17373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500" b="1">
                <a:solidFill>
                  <a:srgbClr val="0A467E"/>
                </a:solidFill>
                <a:latin typeface="Calibri"/>
              </a:rPr>
              <a:t>Success metrics for the pilot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• Pack load success rate in Duo and Copilot sessions (target: 100% of pilot packs)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• Developer survey: usefulness of answers with vs without packs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• Share of changes where the filled-in plan was usable with minor edits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• Time-to-first-usable-answer on service-specific questions, before vs 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02920" cy="82296"/>
          </a:xfrm>
          <a:prstGeom prst="rect">
            <a:avLst/>
          </a:prstGeom>
          <a:solidFill>
            <a:srgbClr val="0E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3B0"/>
                </a:solidFill>
                <a:latin typeface="Calibri"/>
              </a:rPr>
              <a:t>THE ASK</a:t>
            </a:r>
          </a:p>
          <a:p>
            <a:pPr algn="l"/>
            <a:r>
              <a:rPr sz="3000" b="1">
                <a:solidFill>
                  <a:srgbClr val="1F2933"/>
                </a:solidFill>
                <a:latin typeface="Calibri"/>
              </a:rPr>
              <a:t>What I'm asking for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600" b="1">
                <a:solidFill>
                  <a:srgbClr val="0E63B0"/>
                </a:solidFill>
                <a:latin typeface="Calibri"/>
              </a:rPr>
              <a:t>Approve the spike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One time-boxed spike in the next iteration for the prompt experiments and pilot pack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8308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600" b="1">
                <a:solidFill>
                  <a:srgbClr val="0E63B0"/>
                </a:solidFill>
                <a:latin typeface="Calibri"/>
              </a:rPr>
              <a:t>Time-box for licensed devs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A few hours of Claude Code time from the licensed developers during the spike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7472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600" b="1">
                <a:solidFill>
                  <a:srgbClr val="0E63B0"/>
                </a:solidFill>
                <a:latin typeface="Calibri"/>
              </a:rPr>
              <a:t>Nominate a pilot service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One representative Spring Boot service (and later 2–3 for the PI pilot)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47472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0E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09728" bIns="109728" wrap="square"/>
          <a:lstStyle/>
          <a:p>
            <a:pPr algn="l"/>
            <a:r>
              <a:rPr sz="1600" b="1">
                <a:solidFill>
                  <a:srgbClr val="0E63B0"/>
                </a:solidFill>
                <a:latin typeface="Calibri"/>
              </a:rPr>
              <a:t>Team commitment</a:t>
            </a:r>
          </a:p>
          <a:p>
            <a:pPr algn="l"/>
            <a:r>
              <a:rPr sz="1300" b="0">
                <a:solidFill>
                  <a:srgbClr val="1F2933"/>
                </a:solidFill>
                <a:latin typeface="Calibri"/>
              </a:rPr>
              <a:t>Pilot developers agree to use the packs on real tasks and give honest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4068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500" b="1">
                <a:solidFill>
                  <a:srgbClr val="0A467E"/>
                </a:solidFill>
                <a:latin typeface="Calibri"/>
              </a:rPr>
              <a:t>If the pilot doesn't prove itself in one PI, we stop — the only sunk cost is the spike, and we keep the generated documentation either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•  A few Claude Code licences can lift the whole team: generate context packs once, reuse them everywhere.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•  Duo and Copilot become service-aware assistants instead of generic chatbots — with zero new tools or data exposure.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•  Developers stay in control: standardised plans, manual apply, normal MR review.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•  One spike + one PI pilot tells us if it works — measured, time-boxed, SAFe-friendly.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EC9EE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