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09728"/>
          </a:xfrm>
          <a:prstGeom prst="rect">
            <a:avLst/>
          </a:prstGeom>
          <a:solidFill>
            <a:srgbClr val="6AB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EC9EE"/>
                </a:solidFill>
                <a:latin typeface="Calibri"/>
              </a:rPr>
              <a:t>CONTEXT PACKS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Scaling AI-assisted development
beyond our Claude Code licenses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5E5F4"/>
                </a:solidFill>
                <a:latin typeface="Calibri"/>
              </a:rPr>
              <a:t>Using Claude Code to make GitLab Duo and Microsoft Copilot dramatically more effective for the whole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9C4DC"/>
                </a:solidFill>
                <a:latin typeface="Calibri"/>
              </a:rPr>
              <a:t>Proposal to the team  ·  20–30 min  ·  &lt;presenter name&gt;  ·  &lt;date&gt;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THE PROBLEM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A two-tier AI developer experience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Tier 1 — a few developers</a:t>
            </a:r>
          </a:p>
          <a:p>
            <a:pPr algn="l"/>
            <a:r>
              <a:rPr sz="2000" b="1">
                <a:solidFill>
                  <a:srgbClr val="1F2933"/>
                </a:solidFill>
                <a:latin typeface="Calibri"/>
              </a:rPr>
              <a:t>Claude Code (agentic)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Reads the whole codebase systematically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Plans and executes multi-step changes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Limited seats: licence cap + security review means most of the team can't get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4592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B45E12"/>
                </a:solidFill>
                <a:latin typeface="Calibri"/>
              </a:rPr>
              <a:t>Tier 2 — everyone else</a:t>
            </a:r>
          </a:p>
          <a:p>
            <a:pPr algn="l"/>
            <a:r>
              <a:rPr sz="2000" b="1">
                <a:solidFill>
                  <a:srgbClr val="1F2933"/>
                </a:solidFill>
                <a:latin typeface="Calibri"/>
              </a:rPr>
              <a:t>GitLab Duo &amp; Microsoft Copilot (chat)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Chat-mode only, with a hard context cap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Sees fragments of code, not the service as a system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• Every fresh session starts from zero — the developer re-explains the service each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892040"/>
            <a:ext cx="11201400" cy="137160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600" b="1">
                <a:solidFill>
                  <a:srgbClr val="0A467E"/>
                </a:solidFill>
                <a:latin typeface="Calibri"/>
              </a:rPr>
              <a:t>The gap: </a:t>
            </a:r>
            <a:r>
              <a:rPr sz="1600" b="0">
                <a:solidFill>
                  <a:srgbClr val="1F2933"/>
                </a:solidFill>
                <a:latin typeface="Calibri"/>
              </a:rPr>
              <a:t>our chat AIs are not weak models — they are strong models that are starved of context. They give generic answers to questions about very specific Spring Boot services, so most developers get a fraction of the value we are already paying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CURRENT TOOLING LANDSCAPE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 each tool can and cannot do today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2013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739"/>
                <a:gridCol w="2846257"/>
                <a:gridCol w="3029886"/>
                <a:gridCol w="3213516"/>
              </a:tblGrid>
              <a:tr h="509451">
                <a:tc>
                  <a:txBody>
                    <a:bodyPr/>
                    <a:lstStyle/>
                    <a:p/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Claude Code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GitLab Duo Chat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Microsoft Copilot Chat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Availability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Few licensed developers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Whole team (IntelliJ / VS Code)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Whole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Agentic — plans, reads, edits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Chat, IDE-integrated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Chat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Code access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Entire repository, systematic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Open files / snippets in 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Attached files, incl. images &amp; many formats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Context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Very large, managed automatically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Capped per session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Capped per session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Systematic multi-step 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No — needs hand-fed context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No — needs hand-fed context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Today's blocker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Licence cap &amp; security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Doesn't know the service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Doesn't know the service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532120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Observation: </a:t>
            </a:r>
            <a:r>
              <a:rPr sz="1500" b="0">
                <a:solidFill>
                  <a:srgbClr val="1F2933"/>
                </a:solidFill>
                <a:latin typeface="Calibri"/>
              </a:rPr>
              <a:t>Duo and Copilot both accept attached files. If the right context arrived pre-packaged, the “doesn't know the service” blocker disappears.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PROPOSAL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The idea in one picture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020824" cy="2286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E63B0"/>
                </a:solidFill>
                <a:latin typeface="Calibri"/>
              </a:rPr>
              <a:t>1 · Generate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Licensed devs run Claude Code with a standard prompt over each microservice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51176" y="2834640"/>
            <a:ext cx="329184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2072" y="1828800"/>
            <a:ext cx="2020824" cy="2286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E63B0"/>
                </a:solidFill>
                <a:latin typeface="Calibri"/>
              </a:rPr>
              <a:t>2 · Commit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Context pack (a small set of .md files) is committed to the service repo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64608" y="2834640"/>
            <a:ext cx="329184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75504" y="1828800"/>
            <a:ext cx="2020824" cy="2286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E63B0"/>
                </a:solidFill>
                <a:latin typeface="Calibri"/>
              </a:rPr>
              <a:t>3 · Attach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Any developer attaches the pack to a fresh Duo or Copilot session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78040" y="2834640"/>
            <a:ext cx="329184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88936" y="1828800"/>
            <a:ext cx="2020824" cy="2286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E63B0"/>
                </a:solidFill>
                <a:latin typeface="Calibri"/>
              </a:rPr>
              <a:t>4 · Plan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The chat AI fills in our standard plan template for the feature / change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91472" y="2834640"/>
            <a:ext cx="329184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02368" y="1828800"/>
            <a:ext cx="2020824" cy="2286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1E7A45"/>
                </a:solidFill>
                <a:latin typeface="Calibri"/>
              </a:rPr>
              <a:t>5 · Apply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Developer reviews and applies the changes manually, as normal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201400" cy="173736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A467E"/>
                </a:solidFill>
                <a:latin typeface="Calibri"/>
              </a:rPr>
              <a:t>Why this works</a:t>
            </a:r>
          </a:p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Claude Code does the expensive, systematic part once per service — understanding the whole codebase. The result is distilled into files small enough for Duo / Copilot context windows. Every developer then starts each chat session with the AI already “knowing” the service, and code changes stay fully under developer control.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PROPOSAL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What's in a context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A"/>
                </a:solidFill>
                <a:latin typeface="Calibri"/>
              </a:rPr>
              <a:t>One folder of Markdown files per microservice — each file sized to fit chat attachment and context limits.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SERVICE-OVERVIEW.md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Purpose, responsibilities, owners, key business flows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05740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ARCHITECTURE.md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Module layout, dependency map, upstream / downstream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05740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API-CONTRACTS.md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REST endpoints, request/response shapes, error conventions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8328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DATA-MODEL.md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Entities, relationships, key tables and migrations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38328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CONVENTIONS.md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Code patterns, naming, error handling, how we write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338328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CONFIG-PROFILES.md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Spring Boot config, profiles, feature flags, secrets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0916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DEPLOYMENT.md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OpenShift topology, routes, resources, pipelines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70916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TESTING.md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Test layers, fixtures, how to add and run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470916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GOTCHAS.md</a:t>
            </a:r>
          </a:p>
          <a:p>
            <a:pPr algn="l"/>
            <a:r>
              <a:rPr sz="1150" b="0">
                <a:solidFill>
                  <a:srgbClr val="1F2933"/>
                </a:solidFill>
                <a:latin typeface="Calibri"/>
              </a:rPr>
              <a:t>Known pitfalls, tech debt, sharp edges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6035040"/>
            <a:ext cx="11201400" cy="59436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Side effect: this is living, always-regenerable documentation — valuable even without any AI.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PROPOSAL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The standardised plan 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A"/>
                </a:solidFill>
                <a:latin typeface="Calibri"/>
              </a:rPr>
              <a:t>A fixed structure the chat AI must fill in for any feature or change — so output is predictable, reviewable and easy to apply by hand.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1 · Goal &amp; scope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What we're changing and explicitly what we're not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2148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2 · Affected files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Exact files to touch, and why each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3 · Step-by-step changes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Ordered steps with code snippets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291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4 · Test plan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Unit / integration tests to add or update, how to run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34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5 · Config &amp; deployment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Spring profiles, OpenShift manifests, flags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4348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6 · Rollback &amp; risks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How to revert, what could break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715000"/>
            <a:ext cx="11201400" cy="91440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0">
                <a:solidFill>
                  <a:srgbClr val="1F2933"/>
                </a:solidFill>
                <a:latin typeface="Calibri"/>
              </a:rPr>
              <a:t>The developer copies the filled-in plan out of Duo / Copilot and applies it manually — human review is built into every step. No AI writes to our repos except through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DEVELOPER WORKFLOW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A developer's day, before and after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B45E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B45E12"/>
                </a:solidFill>
                <a:latin typeface="Calibri"/>
              </a:rPr>
              <a:t>Before — Duo with no context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“Add an endpoint to service X” → generic Spring Boot boilerplate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Dev pastes snippets file-by-file to explain the service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Hits the context cap, answers drift, session restarted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Result often ignores our conventions and config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1E7A45"/>
                </a:solidFill>
                <a:latin typeface="Calibri"/>
              </a:rPr>
              <a:t>After — Duo with a context pack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Dev attaches the pack + plan template to a fresh session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AI answers in terms of our actual endpoints, entities, conventions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Produces a filled-in plan with concrete files and snippets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Dev reviews, applies manually, raises MR as usual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160520"/>
            <a:ext cx="11201400" cy="214884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9050">
            <a:solidFill>
              <a:srgbClr val="D9A44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/>
            <a:r>
              <a:rPr sz="1200" b="1">
                <a:solidFill>
                  <a:srgbClr val="B45E12"/>
                </a:solidFill>
                <a:latin typeface="Calibri"/>
              </a:rPr>
              <a:t>[ DEMO ASSET — TO BE CAPTURED ]</a:t>
            </a:r>
          </a:p>
          <a:p>
            <a:pPr algn="ctr"/>
            <a:r>
              <a:rPr sz="1600" b="1">
                <a:solidFill>
                  <a:srgbClr val="1F2933"/>
                </a:solidFill>
                <a:latin typeface="Calibri"/>
              </a:rPr>
              <a:t>Before / after session comparison</a:t>
            </a:r>
          </a:p>
          <a:p>
            <a:pPr algn="ctr"/>
            <a:r>
              <a:rPr sz="1200" b="0">
                <a:solidFill>
                  <a:srgbClr val="5A6B7A"/>
                </a:solidFill>
                <a:latin typeface="Calibri"/>
              </a:rPr>
              <a:t>Side-by-side screenshots of the same task in GitLab Duo: one fresh session with no context, one with the context pack attached — same prompt, visibly different quality of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SAMPLE CONTEXT PACK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 a real pack looks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76656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100" b="1">
                <a:solidFill>
                  <a:srgbClr val="1E7A45"/>
                </a:solidFill>
                <a:latin typeface="Calibri"/>
              </a:rPr>
              <a:t>REAL OUTPUT — generated by Claude Code from the sample transfer-service</a:t>
            </a:r>
          </a:p>
          <a:p>
            <a:pPr algn="l"/>
            <a:r>
              <a:rPr sz="1300" b="1">
                <a:solidFill>
                  <a:srgbClr val="0A467E"/>
                </a:solidFill>
                <a:latin typeface="Calibri"/>
              </a:rPr>
              <a:t>RECIPES.md · R3 — Add a field to an existing entity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WHEN: e.g. add `description` to Transfer.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1  model.Transfer — private field + @Column traits + constructor param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    + getter (entity is immutable — no setter)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2  (no migration file: schema is ddl-auto create-drop from entities)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3  dto.TransferRequest — add record component with validation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    annotations (e.g. @Size(max=140); optional =&gt; no @NotBlank)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4  service.TransferService — pass the value through in BOTH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    new Transfer(...) call sites (REJECTED and COMPLETED branches)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5  dto.TransferResponse — add component + map it in from(Transfer)</a:t>
            </a:r>
          </a:p>
          <a:p>
            <a:pPr algn="l"/>
            <a:r>
              <a:rPr sz="1100" b="0">
                <a:solidFill>
                  <a:srgbClr val="1F2933"/>
                </a:solidFill>
                <a:latin typeface="Calibri"/>
              </a:rPr>
              <a:t>6  test — extend the request(...) helper + add assertions</a:t>
            </a:r>
          </a:p>
          <a:p>
            <a:pPr algn="l"/>
            <a:r>
              <a:rPr sz="1100" b="1">
                <a:solidFill>
                  <a:srgbClr val="B45E12"/>
                </a:solidFill>
                <a:latin typeface="Calibri"/>
              </a:rPr>
              <a:t>PITFALL: Transfer has TWO construction sites in execute() — update</a:t>
            </a:r>
          </a:p>
          <a:p>
            <a:pPr algn="l"/>
            <a:r>
              <a:rPr sz="1100" b="1">
                <a:solidFill>
                  <a:srgbClr val="B45E12"/>
                </a:solidFill>
                <a:latin typeface="Calibri"/>
              </a:rPr>
              <a:t>both or the field is silently null on one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1600200"/>
            <a:ext cx="4251960" cy="224028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9050">
            <a:solidFill>
              <a:srgbClr val="D9A44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/>
            <a:r>
              <a:rPr sz="1200" b="1">
                <a:solidFill>
                  <a:srgbClr val="B45E12"/>
                </a:solidFill>
                <a:latin typeface="Calibri"/>
              </a:rPr>
              <a:t>[ DEMO ASSET — TO BE CAPTURED ]</a:t>
            </a:r>
          </a:p>
          <a:p>
            <a:pPr algn="ctr"/>
            <a:r>
              <a:rPr sz="1600" b="1">
                <a:solidFill>
                  <a:srgbClr val="1F2933"/>
                </a:solidFill>
                <a:latin typeface="Calibri"/>
              </a:rPr>
              <a:t>Pack loaded in GitLab Duo</a:t>
            </a:r>
          </a:p>
          <a:p>
            <a:pPr algn="ctr"/>
            <a:r>
              <a:rPr sz="1200" b="0">
                <a:solidFill>
                  <a:srgbClr val="5A6B7A"/>
                </a:solidFill>
                <a:latin typeface="Calibri"/>
              </a:rPr>
              <a:t>Screenshot: files attached in a Duo chat session in IntelliJ / VS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23360"/>
            <a:ext cx="4251960" cy="224028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9050">
            <a:solidFill>
              <a:srgbClr val="D9A44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ctr"/>
            <a:r>
              <a:rPr sz="1200" b="1">
                <a:solidFill>
                  <a:srgbClr val="B45E12"/>
                </a:solidFill>
                <a:latin typeface="Calibri"/>
              </a:rPr>
              <a:t>[ DEMO ASSET — TO BE CAPTURED ]</a:t>
            </a:r>
          </a:p>
          <a:p>
            <a:pPr algn="ctr"/>
            <a:r>
              <a:rPr sz="1600" b="1">
                <a:solidFill>
                  <a:srgbClr val="1F2933"/>
                </a:solidFill>
                <a:latin typeface="Calibri"/>
              </a:rPr>
              <a:t>Pack loaded in Copilot</a:t>
            </a:r>
          </a:p>
          <a:p>
            <a:pPr algn="ctr"/>
            <a:r>
              <a:rPr sz="1200" b="0">
                <a:solidFill>
                  <a:srgbClr val="5A6B7A"/>
                </a:solidFill>
                <a:latin typeface="Calibri"/>
              </a:rPr>
              <a:t>Screenshot: same pack attached to a Microsoft Copilot chat session.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MAKING IT WORK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Finding the best generation prompt — underway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A"/>
                </a:solidFill>
                <a:latin typeface="Calibri"/>
              </a:rPr>
              <a:t>Not hypothetical: five prompt strategies are written, and all five packs have been generated against a sample Spring Boot payments service.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148840" cy="16916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250" b="1">
                <a:solidFill>
                  <a:srgbClr val="0E63B0"/>
                </a:solidFill>
                <a:latin typeface="Calibri"/>
              </a:rPr>
              <a:t>1 · Structured spec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Fixed 11-file specification</a:t>
            </a:r>
          </a:p>
          <a:p>
            <a:pPr algn="l"/>
            <a:r>
              <a:rPr sz="1050" b="1">
                <a:solidFill>
                  <a:srgbClr val="5A6B7A"/>
                </a:solidFill>
                <a:latin typeface="Calibri"/>
              </a:rPr>
              <a:t>~5.4k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62072" y="2057400"/>
            <a:ext cx="2148840" cy="16916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250" b="1">
                <a:solidFill>
                  <a:srgbClr val="0E63B0"/>
                </a:solidFill>
                <a:latin typeface="Calibri"/>
              </a:rPr>
              <a:t>2 · Tech-lead persona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Onboarding-brief style, AI picks structure</a:t>
            </a:r>
          </a:p>
          <a:p>
            <a:pPr algn="l"/>
            <a:r>
              <a:rPr sz="1050" b="1">
                <a:solidFill>
                  <a:srgbClr val="5A6B7A"/>
                </a:solidFill>
                <a:latin typeface="Calibri"/>
              </a:rPr>
              <a:t>~2.7k 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5504" y="2057400"/>
            <a:ext cx="2148840" cy="16916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250" b="1">
                <a:solidFill>
                  <a:srgbClr val="0E63B0"/>
                </a:solidFill>
                <a:latin typeface="Calibri"/>
              </a:rPr>
              <a:t>3 · Compact budget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3 dense files, hard token cap</a:t>
            </a:r>
          </a:p>
          <a:p>
            <a:pPr algn="l"/>
            <a:r>
              <a:rPr sz="1050" b="1">
                <a:solidFill>
                  <a:srgbClr val="5A6B7A"/>
                </a:solidFill>
                <a:latin typeface="Calibri"/>
              </a:rPr>
              <a:t>~1.7k 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936" y="2057400"/>
            <a:ext cx="2148840" cy="16916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250" b="1">
                <a:solidFill>
                  <a:srgbClr val="0E63B0"/>
                </a:solidFill>
                <a:latin typeface="Calibri"/>
              </a:rPr>
              <a:t>4 · Task cookbook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Recipes for each change type + FAQ</a:t>
            </a:r>
          </a:p>
          <a:p>
            <a:pPr algn="l"/>
            <a:r>
              <a:rPr sz="1050" b="1">
                <a:solidFill>
                  <a:srgbClr val="5A6B7A"/>
                </a:solidFill>
                <a:latin typeface="Calibri"/>
              </a:rPr>
              <a:t>~3.6k tokens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02368" y="2057400"/>
            <a:ext cx="2148840" cy="16916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250" b="1">
                <a:solidFill>
                  <a:srgbClr val="0E63B0"/>
                </a:solidFill>
                <a:latin typeface="Calibri"/>
              </a:rPr>
              <a:t>5 · Self-critique</a:t>
            </a:r>
          </a:p>
          <a:p>
            <a:pPr algn="l"/>
            <a:r>
              <a:rPr sz="1050" b="0">
                <a:solidFill>
                  <a:srgbClr val="1F2933"/>
                </a:solidFill>
                <a:latin typeface="Calibri"/>
              </a:rPr>
              <a:t>Generate, adversarially self-test, patch</a:t>
            </a:r>
          </a:p>
          <a:p>
            <a:pPr algn="l"/>
            <a:r>
              <a:rPr sz="1050" b="1">
                <a:solidFill>
                  <a:srgbClr val="5A6B7A"/>
                </a:solidFill>
                <a:latin typeface="Calibri"/>
              </a:rPr>
              <a:t>~6.4k tokens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69080"/>
            <a:ext cx="11201400" cy="21945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Evaluation criteria (each variant scored on)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Accuracy — 30-symbol spot check vs the real code   • Completeness — endpoints, entities, conventions, gotchas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Size — fits Duo/Copilot context with headroom for conversation   • Hygiene — zero secrets/hostnames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Usefulness — fixed Q&amp;A set + a feature task run in real Duo sessions   • Workflow — plan/approve/execute behaviour holds</a:t>
            </a:r>
          </a:p>
          <a:p>
            <a:pPr algn="l"/>
            <a:r>
              <a:rPr sz="40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1E7A45"/>
                </a:solidFill>
                <a:latin typeface="Calibri"/>
              </a:rPr>
              <a:t>Status: objective checks (accuracy, size, hygiene, coverage) complete for all five — Duo session testing is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VALIDATION TESTING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Proving the packs load and actually help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2013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183"/>
                <a:gridCol w="6059773"/>
                <a:gridCol w="2754442"/>
              </a:tblGrid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is tested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1 · Objective checks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Size vs caps, secret/hostname hygiene, 30-symbol accuracy vs code, coverage, workflow file complete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DONE — all 5 variants pass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2 · Duo Q&amp;A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Fixed 8-question set per pack in fresh Duo sessions; answers must cite real classes (0–2 each)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Next — protocol ready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3 · Duo agentic workflow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Same feature request per pack: plan-only first, refusal before APPROVED, step-wise code, error handling (9 gates)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Next — protocol ready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4 · Decision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Weighted score (workflow 40%, Q&amp;A 30%, objective 20%, practicality 10%) picks the winner; hybrid prompt built from best parts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After Duo runs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257800"/>
            <a:ext cx="11201400" cy="105156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Everything is scripted and repeatable: </a:t>
            </a:r>
            <a:r>
              <a:rPr sz="1400" b="0">
                <a:solidFill>
                  <a:srgbClr val="1F2933"/>
                </a:solidFill>
                <a:latin typeface="Calibri"/>
              </a:rPr>
              <a:t>scoring rubric + scoresheet are in the repo, and Duo Q&amp;A runs can optionally be automated via GitLab's aiAction API from inside our network.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VALIDATION TESTING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Early findings from the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2014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1E7A45"/>
                </a:solidFill>
                <a:latin typeface="Calibri"/>
              </a:rPr>
              <a:t>The planted trap worked — and separated the strategies</a:t>
            </a:r>
          </a:p>
          <a:p>
            <a:pPr algn="l"/>
            <a:r>
              <a:rPr sz="1350" b="0">
                <a:solidFill>
                  <a:srgbClr val="1F2933"/>
                </a:solidFill>
                <a:latin typeface="Calibri"/>
              </a:rPr>
              <a:t>The sample service constructs its Transfer entity in TWO code paths; a change plan that misses one silently loses data. Only the task-cookbook pack surfaced this on its own, and the self-critique prompt caught it by testing its own output (4 real defects found and patched). Reference-style packs documented what exists — but not what a change touches.</a:t>
            </a:r>
          </a:p>
          <a:p>
            <a:pPr algn="l"/>
            <a:r>
              <a:rPr sz="40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Lesson: packs must encode change recipes and be self-tested, not just describe the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16052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Working ranking (pre-Duo)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1. Task cookbook — best change support per token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2. Self-critique — most complete, biggest pack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3. Compact — full facts at 1/4 the tokens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4. Persona  5. Structured spec</a:t>
            </a:r>
          </a:p>
          <a:p>
            <a:pPr algn="l"/>
            <a:r>
              <a:rPr sz="1250" b="1">
                <a:solidFill>
                  <a:srgbClr val="5A6B7A"/>
                </a:solidFill>
                <a:latin typeface="Calibri"/>
              </a:rPr>
              <a:t>Duo sessions confirm or refute this.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416052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Also proven along the way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Packs honestly mark gaps (“UNKNOWN — verify with team”)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Zero hallucinated classes across 30-symbol spot checks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Hygiene scans clean — no secrets/hostnames leak</a:t>
            </a:r>
          </a:p>
          <a:p>
            <a:pPr algn="l"/>
            <a:r>
              <a:rPr sz="1250" b="0">
                <a:solidFill>
                  <a:srgbClr val="1F2933"/>
                </a:solidFill>
                <a:latin typeface="Calibri"/>
              </a:rPr>
              <a:t>• Jira ticket template ready for licensed devs to reuse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MAKING IT WORK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Keeping packs fresh (and cheap to keep fresh)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Regeneration is one command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Packs are generated, not hand-written. Refreshing a service is re-running the winning prompt — minutes, not days.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62072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Cadence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Regenerate once per PI as a routine enabler task, plus ad-hoc after significant merges to a service.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32504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Ownership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The licensed Claude Code developers own generation; each service team spot-checks its own pack.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02936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B45E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Drift guardrails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Every pack carries a generated-on date + commit hash. Optional CI reminder when a service changes heavily since last generation.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MAKING IT WORK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Security &amp; compliance posture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No new data exposure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Packs describe code that Duo and Copilot can already access through their approved integrations. We change the form of the context, not its scope.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62072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No new tools, no new licences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Everything runs on tooling that is already procured and security-approved: Claude Code for the few, Duo / Copilot for the many.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32504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Human in the loop by design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Chat AIs only produce plans and snippets; a developer applies every change manually and it goes through normal MR review.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02936"/>
            <a:ext cx="11201400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B45E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400" b="1">
                <a:solidFill>
                  <a:srgbClr val="0A467E"/>
                </a:solidFill>
                <a:latin typeface="Calibri"/>
              </a:rPr>
              <a:t>Content hygiene — </a:t>
            </a:r>
            <a:r>
              <a:rPr sz="1350" b="0">
                <a:solidFill>
                  <a:srgbClr val="1F2933"/>
                </a:solidFill>
                <a:latin typeface="Calibri"/>
              </a:rPr>
              <a:t>Generation prompts explicitly exclude secrets, credentials, internal hostnames and personal data; packs are reviewed before first commit.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BENEFITS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 we get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Whole-team uplift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Every developer gets near-agentic AI help from the licences we already pay for — no new seats needed.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78308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Faster onboarding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New joiners read the pack (or chat with it) instead of spelunking for weeks.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78308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Living documentation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Regenerable, always-current service docs as a permanent side effect.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8620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Better reviews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Standardised plans make AI-assisted changes predictable and easy to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388620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Compounding asset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Prompts and templates improve every iteration and apply to every new service.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88620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Low cost to try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A time-boxed spike by the licensed devs; no procurement, no platform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RISKS &amp; MITIGATIONS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Risks and how we handle them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20139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6219"/>
                <a:gridCol w="7345180"/>
              </a:tblGrid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73152" marR="73152" marT="36576" marB="36576">
                    <a:solidFill>
                      <a:srgbClr val="0E63B0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Packs go stale and mislead the 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Per-PI regeneration cadence; generated-on date + commit hash in every pack; regeneration is one command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Over-reliance on AI-produced plans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Plan template forces explicit test &amp; rollback sections; manual apply + normal MR review remain mandatory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Packs too large for chat context caps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Size is an explicit evaluation criterion; split or trim files per tool limits during the spike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Maintenance burden on licensed devs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Generation is automated; effort is minutes per service per PI, tracked as enabler 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F2933"/>
                          </a:solidFill>
                          <a:latin typeface="Calibri"/>
                        </a:rPr>
                        <a:t>Quality varies across services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3"/>
                          </a:solidFill>
                          <a:latin typeface="Calibri"/>
                        </a:rPr>
                        <a:t>Standard prompts + acceptance bar per pack; service team spot-check before first commit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ROLLOUT PLAN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Rollout, the SAFe 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1E7A45"/>
                </a:solidFill>
                <a:latin typeface="Calibri"/>
              </a:rPr>
              <a:t>Spike — IN PROGRESS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5 prompt strategies written; 5 packs generated on a sample service; objective checks passed; Duo runs next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54680" y="2834640"/>
            <a:ext cx="320040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78308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0E63B0"/>
                </a:solidFill>
                <a:latin typeface="Calibri"/>
              </a:rPr>
              <a:t>Pilot — one PI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2–3 services; real feature work by non-licensed devs using packs + plan template; collect metrics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80760" y="2834640"/>
            <a:ext cx="320040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0" y="178308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B45E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B45E12"/>
                </a:solidFill>
                <a:latin typeface="Calibri"/>
              </a:rPr>
              <a:t>Measure &amp; decide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Review metrics + dev feedback at PI boundary; go / adjust / stop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06840" y="2834640"/>
            <a:ext cx="320040" cy="256032"/>
          </a:xfrm>
          <a:prstGeom prst="rightArrow">
            <a:avLst/>
          </a:prstGeom>
          <a:solidFill>
            <a:srgbClr val="0E6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0" y="178308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400" b="1">
                <a:solidFill>
                  <a:srgbClr val="1E7A45"/>
                </a:solidFill>
                <a:latin typeface="Calibri"/>
              </a:rPr>
              <a:t>Scale</a:t>
            </a:r>
          </a:p>
          <a:p>
            <a:pPr algn="l"/>
            <a:r>
              <a:rPr sz="1200" b="0">
                <a:solidFill>
                  <a:srgbClr val="1F2933"/>
                </a:solidFill>
                <a:latin typeface="Calibri"/>
              </a:rPr>
              <a:t>Roll out to all services as enabler stories; per-PI regeneration becomes routine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80"/>
            <a:ext cx="11201400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Success metrics for the pilot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• Pack load success rate in Duo and Copilot sessions (target: 100% of pilot packs)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• Developer survey: usefulness of answers with vs without packs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• Share of changes where the filled-in plan was usable with minor edits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• Time-to-first-usable-answer on service-specific questions, before vs 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02920" cy="82296"/>
          </a:xfrm>
          <a:prstGeom prst="rect">
            <a:avLst/>
          </a:prstGeom>
          <a:solidFill>
            <a:srgbClr val="0E63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63B0"/>
                </a:solidFill>
                <a:latin typeface="Calibri"/>
              </a:rPr>
              <a:t>THE ASK</a:t>
            </a:r>
          </a:p>
          <a:p>
            <a:pPr algn="l"/>
            <a:r>
              <a:rPr sz="3000" b="1">
                <a:solidFill>
                  <a:srgbClr val="1F2933"/>
                </a:solidFill>
                <a:latin typeface="Calibri"/>
              </a:rPr>
              <a:t>What I'm asking for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Finish the spike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Time to run the Duo validation sessions on the 5 generated packs and pick the winning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7830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Time-box for licensed devs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A few hours of Claude Code time to re-run the winner fresh and generate the first real pack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7472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Nominate a pilot service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One representative Spring Boot service (and later 2–3 for the PI pilot)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47472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5875">
            <a:solidFill>
              <a:srgbClr val="0E6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09728" bIns="109728" wrap="square"/>
          <a:lstStyle/>
          <a:p>
            <a:pPr algn="l"/>
            <a:r>
              <a:rPr sz="1600" b="1">
                <a:solidFill>
                  <a:srgbClr val="0E63B0"/>
                </a:solidFill>
                <a:latin typeface="Calibri"/>
              </a:rPr>
              <a:t>Team commitment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Calibri"/>
              </a:rPr>
              <a:t>Pilot developers agree to use the packs on real tasks and give honest feedback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440680"/>
            <a:ext cx="11201400" cy="914400"/>
          </a:xfrm>
          <a:prstGeom prst="roundRect">
            <a:avLst>
              <a:gd name="adj" fmla="val 6000"/>
            </a:avLst>
          </a:prstGeom>
          <a:solidFill>
            <a:srgbClr val="E3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09728" bIns="109728" wrap="square"/>
          <a:lstStyle/>
          <a:p>
            <a:pPr algn="l"/>
            <a:r>
              <a:rPr sz="1500" b="1">
                <a:solidFill>
                  <a:srgbClr val="0A467E"/>
                </a:solidFill>
                <a:latin typeface="Calibri"/>
              </a:rPr>
              <a:t>If the pilot doesn't prove itself in one PI, we stop — the only sunk cost is the spike, and we keep the generated documentation either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•  A few Claude Code licences can lift the whole team: generate context packs once, reuse them everywhere.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•  Duo and Copilot become service-aware assistants instead of generic chatbots — with zero new tools or data exposure.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•  Developers stay in control: standardised plans, manual apply, normal MR review.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•  One spike + one PI pilot tells us if it works — measured, time-boxed, SAFe-friendly.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EC9EE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